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custDataLst>
    <p:tags r:id="rId1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D335EF-E5DA-4714-817B-7BACF4B42362}" v="21" dt="2026-10-29T07:23:38.1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3" autoAdjust="0"/>
    <p:restoredTop sz="94660"/>
  </p:normalViewPr>
  <p:slideViewPr>
    <p:cSldViewPr snapToGrid="0">
      <p:cViewPr varScale="1">
        <p:scale>
          <a:sx n="78" d="100"/>
          <a:sy n="78" d="100"/>
        </p:scale>
        <p:origin x="80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ags" Target="tags/tag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B63F7-EF8D-1442-2805-F90D13F7F6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6B73C6-4021-68D5-1099-5B1540F6C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5FE5C-42F5-ED25-BFA5-92006F0FA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8D708-28BE-2B4D-76EA-65C5F9F1D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89D1B-E6BF-1F61-350B-A416EBB70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09175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B7F94-F949-C9D2-64CD-B62B7DC79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E5FE4-1DC9-4259-BC3F-AAA35F553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BD69D-53F3-11C2-CD61-58145ADE3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27DC1-FAE3-D580-F35F-401162D21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5CA33-9D26-98B6-E85B-DDD045083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2120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DBDCC-CCDE-89ED-215B-A5C7B94C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A45BD-B998-CDFD-1526-FDD92DF37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13C8F-2C17-07EA-C35A-A35FBFF6B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E90C3-7845-28AD-B4AB-4E25141A3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ABC6B-8C7F-938E-F069-4B9182347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475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22F3A-0938-B89E-F4AB-85FEE1807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60B9D-3512-C97D-CC45-A43A179A5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7026FA-4782-12C8-2CC1-2C7509451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89C04-0833-1C4B-D8A2-3712684FF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4AB21E-0157-D95F-9FCC-4B063351B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AD5F7A-AE0A-B266-6D5F-8DCFAF7C0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3900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DF502-0597-DE6F-EFAA-91FE7CBC2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B2D51-88C7-8166-7DF4-05B2412EE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4D9031-D1F7-2CE0-3119-FE2D72314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84C981-6167-2D0E-C5BB-60431E3459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AFAC50-58D5-0FF1-CA9C-ADFF4B70CC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2834AD-3601-067D-72FB-6D29B190C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66F7D6-4AD1-81C2-9724-6BD00205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119DA6-2F99-B552-267C-700E7BCBD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766301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FFD68-AAAD-B847-FEDE-8097587BD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9AE93F-DDAA-4DD3-F594-609BC9504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BBD2A4-363A-DAA0-622F-DD627BA81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16BABE-D66C-7F7F-7ABA-8A59FDD2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94500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D7050-3A86-DB26-84B4-1380B38A3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EE70D8-9614-140C-81C8-4A5C6A3B8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A678B-AC33-BD31-7B81-62828144C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36859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37EB7-7A36-D8E2-02CC-749D8CB3F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C83CD-C860-00EB-932A-D31384975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2020D6-2495-A29C-DAC2-F0076F1846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F7D8A-A545-AF69-94BF-B59A30103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14F846-93A0-440A-DF82-A698055FA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7D9461-0EED-10DF-5196-A303CB95F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184505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B58D1-A1EA-0634-FAC2-90E4D720A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B24B92-4BA2-E8CE-A1AE-B265778655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B59854-B0B7-287F-B832-2C9C0A998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AE5A84-FE53-EC4F-4180-C28245FDB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90BC5-7018-2B6D-B9F7-2475E1AF4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76DC6-615A-374B-A4E6-15D9BD75F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48795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04915-0AA5-88A7-550C-EDDA66267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7B0AC-256A-DD5C-1FB2-5A51ABFB7B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513A8-DC61-DCAC-BADE-CE9BA1EE3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F1CA6-2AA6-85A0-F736-1DE71D240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0E3D0-868A-15DA-2C55-940529744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05093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2D8FEF-8EEC-1D16-8F69-5FF3DA5EC3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0F4F87-CA82-C826-169C-6FB5E8F98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8FAE7-3CBB-7B80-6765-1E483D9B8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F97FD-BF40-F2B8-A174-8202C5522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56C77-356C-3228-9EE8-7AC8DFA4C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73407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1813B5-2A41-5C27-B7E0-D603DEF4A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43182-73AD-0D40-3DCC-23A18443D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19043-2191-16F3-BF2E-3BC4C2360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886069-5185-423F-843D-C2F3A033B902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4536C-B9BE-F920-FD20-E3C829D7C0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E17EA-46F5-6E05-831C-C882CC57D7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92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4.xml"/><Relationship Id="rId1" Type="http://schemas.openxmlformats.org/officeDocument/2006/relationships/customXml" Target="../../customXml/item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0520-D0AF-3FCE-F7DE-415E0961D3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73569"/>
            <a:ext cx="9144000" cy="1036394"/>
          </a:xfrm>
        </p:spPr>
        <p:txBody>
          <a:bodyPr/>
          <a:lstStyle/>
          <a:p>
            <a:r>
              <a:rPr lang="en-US" dirty="0"/>
              <a:t>Convergence and stability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5732982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01C88D4-B932-0058-DCAC-52E3521104C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dirty="0" err="1"/>
              <a:t>Stability</a:t>
            </a:r>
            <a:r>
              <a:rPr lang="da-DK" dirty="0"/>
              <a:t> of the ODE/ODE system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D03F9AB-6AB7-C2DF-5A1A-1C5787C3948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a-DK" dirty="0"/>
              <a:t>A solution is stable </a:t>
            </a:r>
            <a:r>
              <a:rPr lang="da-DK" dirty="0" err="1"/>
              <a:t>if</a:t>
            </a:r>
            <a:r>
              <a:rPr lang="da-DK" dirty="0"/>
              <a:t> </a:t>
            </a:r>
            <a:r>
              <a:rPr lang="da-DK" dirty="0" err="1"/>
              <a:t>every</a:t>
            </a:r>
            <a:r>
              <a:rPr lang="da-DK" dirty="0"/>
              <a:t> solution, </a:t>
            </a:r>
            <a:r>
              <a:rPr lang="da-DK" dirty="0" err="1"/>
              <a:t>which</a:t>
            </a:r>
            <a:r>
              <a:rPr lang="da-DK" dirty="0"/>
              <a:t> starts </a:t>
            </a:r>
            <a:r>
              <a:rPr lang="da-DK" dirty="0" err="1"/>
              <a:t>sufficiently</a:t>
            </a:r>
            <a:r>
              <a:rPr lang="da-DK" dirty="0"/>
              <a:t> </a:t>
            </a:r>
            <a:r>
              <a:rPr lang="da-DK" dirty="0" err="1"/>
              <a:t>close</a:t>
            </a:r>
            <a:r>
              <a:rPr lang="da-DK" dirty="0"/>
              <a:t> to the solution </a:t>
            </a:r>
            <a:r>
              <a:rPr lang="da-DK" dirty="0" err="1"/>
              <a:t>remains</a:t>
            </a:r>
            <a:r>
              <a:rPr lang="da-DK" dirty="0"/>
              <a:t> </a:t>
            </a:r>
            <a:r>
              <a:rPr lang="da-DK" dirty="0" err="1"/>
              <a:t>close</a:t>
            </a:r>
            <a:r>
              <a:rPr lang="da-DK" dirty="0"/>
              <a:t> to the solution for all t &gt; t0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a-DK" baseline="-25000" dirty="0"/>
          </a:p>
          <a:p>
            <a:pPr marL="0" indent="0">
              <a:buFont typeface="Arial" panose="020B0604020202020204" pitchFamily="34" charset="0"/>
              <a:buNone/>
            </a:pPr>
            <a:endParaRPr lang="da-DK" baseline="-25000" dirty="0"/>
          </a:p>
          <a:p>
            <a:pPr marL="0" indent="0">
              <a:buFont typeface="Arial" panose="020B0604020202020204" pitchFamily="34" charset="0"/>
              <a:buNone/>
            </a:pPr>
            <a:endParaRPr lang="da-DK" dirty="0"/>
          </a:p>
          <a:p>
            <a:pPr marL="0" indent="0">
              <a:buFont typeface="Arial" panose="020B0604020202020204" pitchFamily="34" charset="0"/>
              <a:buNone/>
            </a:pPr>
            <a:endParaRPr lang="da-DK" dirty="0"/>
          </a:p>
          <a:p>
            <a:pPr marL="0" indent="0">
              <a:buFont typeface="Arial" panose="020B0604020202020204" pitchFamily="34" charset="0"/>
              <a:buNone/>
            </a:pPr>
            <a:endParaRPr lang="da-DK" dirty="0"/>
          </a:p>
          <a:p>
            <a:pPr marL="0" indent="0">
              <a:buFont typeface="Arial" panose="020B0604020202020204" pitchFamily="34" charset="0"/>
              <a:buNone/>
            </a:pPr>
            <a:endParaRPr lang="da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E9D99E-69BE-F4B3-BD14-99C7E6929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869" y="2637932"/>
            <a:ext cx="5363323" cy="40867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A0B2518-9011-189E-4A4D-7A4C0337665B}"/>
                  </a:ext>
                </a:extLst>
              </p:cNvPr>
              <p:cNvSpPr txBox="1"/>
              <p:nvPr/>
            </p:nvSpPr>
            <p:spPr>
              <a:xfrm>
                <a:off x="3067771" y="4681329"/>
                <a:ext cx="6594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A0B2518-9011-189E-4A4D-7A4C03376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7771" y="4681329"/>
                <a:ext cx="659411" cy="369332"/>
              </a:xfrm>
              <a:prstGeom prst="rect">
                <a:avLst/>
              </a:prstGeom>
              <a:blipFill>
                <a:blip r:embed="rId3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C93FC1-7022-42A3-0A90-4A39D37B785A}"/>
                  </a:ext>
                </a:extLst>
              </p:cNvPr>
              <p:cNvSpPr txBox="1"/>
              <p:nvPr/>
            </p:nvSpPr>
            <p:spPr>
              <a:xfrm>
                <a:off x="2241967" y="3234395"/>
                <a:ext cx="14852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C93FC1-7022-42A3-0A90-4A39D37B7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1967" y="3234395"/>
                <a:ext cx="1485215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6B12834-6234-22AD-1C44-706840C382FA}"/>
                  </a:ext>
                </a:extLst>
              </p:cNvPr>
              <p:cNvSpPr txBox="1"/>
              <p:nvPr/>
            </p:nvSpPr>
            <p:spPr>
              <a:xfrm>
                <a:off x="761426" y="4311997"/>
                <a:ext cx="4924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6B12834-6234-22AD-1C44-706840C382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426" y="4311997"/>
                <a:ext cx="49244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44F3B19-83CB-C930-30F9-50D355B3C581}"/>
                  </a:ext>
                </a:extLst>
              </p:cNvPr>
              <p:cNvSpPr txBox="1"/>
              <p:nvPr/>
            </p:nvSpPr>
            <p:spPr>
              <a:xfrm>
                <a:off x="0" y="3531542"/>
                <a:ext cx="12538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0 + 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44F3B19-83CB-C930-30F9-50D355B3C5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531542"/>
                <a:ext cx="125386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11017299-6C13-BCCE-5064-6A18526526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7192" y="2710204"/>
            <a:ext cx="5525271" cy="39820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7BCE0E5-78EA-0910-9C8E-BCDCFCFBD8F9}"/>
              </a:ext>
            </a:extLst>
          </p:cNvPr>
          <p:cNvSpPr txBox="1"/>
          <p:nvPr/>
        </p:nvSpPr>
        <p:spPr>
          <a:xfrm>
            <a:off x="3305120" y="3816628"/>
            <a:ext cx="2328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Asymptotically</a:t>
            </a:r>
            <a:r>
              <a:rPr lang="da-DK" dirty="0"/>
              <a:t> stable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DB3448-40C7-07B6-A22D-436032B0CE72}"/>
              </a:ext>
            </a:extLst>
          </p:cNvPr>
          <p:cNvSpPr txBox="1"/>
          <p:nvPr/>
        </p:nvSpPr>
        <p:spPr>
          <a:xfrm>
            <a:off x="9189887" y="3816628"/>
            <a:ext cx="1059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unstable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36622537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8356DAEE-3C17-8651-B44E-854E30485A5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365125"/>
                <a:ext cx="10515600" cy="1325563"/>
              </a:xfrm>
              <a:prstGeom prst="rect">
                <a:avLst/>
              </a:prstGeom>
            </p:spPr>
            <p:txBody>
              <a:bodyPr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da-DK" dirty="0"/>
                  <a:t>A stable ODE/ODE system </a:t>
                </a:r>
                <a:r>
                  <a:rPr lang="da-DK" dirty="0" err="1"/>
                  <a:t>can</a:t>
                </a:r>
                <a:r>
                  <a:rPr lang="da-DK" dirty="0"/>
                  <a:t> give an </a:t>
                </a:r>
                <a:r>
                  <a:rPr lang="da-DK" dirty="0" err="1"/>
                  <a:t>unstable</a:t>
                </a:r>
                <a:r>
                  <a:rPr lang="da-DK" dirty="0"/>
                  <a:t> solution</a:t>
                </a:r>
              </a:p>
              <a:p>
                <a:endParaRPr lang="da-DK" dirty="0"/>
              </a:p>
              <a:p>
                <a:r>
                  <a:rPr lang="da-DK" sz="1800" dirty="0"/>
                  <a:t>Euler forward is: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da-DK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a-DK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a-DK" sz="1800" b="0" i="1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da-DK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da-DK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da-DK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da-DK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da-DK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da-DK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da-DK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da-DK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da-DK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da-DK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da-DK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</m:t>
                    </m:r>
                  </m:oMath>
                </a14:m>
                <a:endParaRPr lang="da-DK" sz="1800" b="0" dirty="0">
                  <a:ea typeface="Cambria Math" panose="02040503050406030204" pitchFamily="18" charset="0"/>
                </a:endParaRPr>
              </a:p>
              <a:p>
                <a:endParaRPr lang="da-DK" sz="1800" dirty="0"/>
              </a:p>
              <a:p>
                <a:r>
                  <a:rPr lang="da-DK" sz="1800" dirty="0" err="1"/>
                  <a:t>Stability</a:t>
                </a:r>
                <a:r>
                  <a:rPr lang="da-DK" sz="1800" dirty="0"/>
                  <a:t> for </a:t>
                </a:r>
                <a:r>
                  <a:rPr lang="da-DK" sz="1800" dirty="0" err="1"/>
                  <a:t>first</a:t>
                </a:r>
                <a:r>
                  <a:rPr lang="da-DK" sz="1800" dirty="0"/>
                  <a:t> </a:t>
                </a:r>
                <a:r>
                  <a:rPr lang="da-DK" sz="1800" dirty="0" err="1"/>
                  <a:t>order</a:t>
                </a:r>
                <a:r>
                  <a:rPr lang="da-DK" sz="1800" dirty="0"/>
                  <a:t> ODE: </a:t>
                </a:r>
                <a14:m>
                  <m:oMath xmlns:m="http://schemas.openxmlformats.org/officeDocument/2006/math">
                    <m:r>
                      <a:rPr lang="da-DK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da-DK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da-DK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≤</m:t>
                    </m:r>
                    <m:f>
                      <m:fPr>
                        <m:ctrlPr>
                          <a:rPr lang="da-DK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da-DK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endParaRPr lang="da-DK" sz="1800" b="0" dirty="0">
                  <a:ea typeface="Cambria Math" panose="02040503050406030204" pitchFamily="18" charset="0"/>
                </a:endParaRPr>
              </a:p>
              <a:p>
                <a:endParaRPr lang="da-DK" sz="1800" dirty="0"/>
              </a:p>
              <a:p>
                <a:r>
                  <a:rPr lang="da-DK" sz="1800" dirty="0"/>
                  <a:t>For most single species </a:t>
                </a:r>
                <a:r>
                  <a:rPr lang="da-DK" sz="1800" dirty="0" err="1"/>
                  <a:t>reactions</a:t>
                </a:r>
                <a:r>
                  <a:rPr lang="da-DK" sz="1800" dirty="0"/>
                  <a:t> </a:t>
                </a:r>
                <a:r>
                  <a:rPr lang="da-DK" sz="1800" dirty="0" err="1"/>
                  <a:t>stability</a:t>
                </a:r>
                <a:r>
                  <a:rPr lang="da-DK" sz="1800" dirty="0"/>
                  <a:t> </a:t>
                </a:r>
                <a:r>
                  <a:rPr lang="da-DK" sz="1800" dirty="0" err="1"/>
                  <a:t>criterion</a:t>
                </a:r>
                <a:r>
                  <a:rPr lang="da-DK" sz="1800" dirty="0"/>
                  <a:t> is:</a:t>
                </a:r>
              </a:p>
              <a:p>
                <a:endParaRPr lang="da-DK" sz="1800" dirty="0"/>
              </a:p>
              <a:p>
                <a14:m>
                  <m:oMath xmlns:m="http://schemas.openxmlformats.org/officeDocument/2006/math">
                    <m:r>
                      <a:rPr lang="da-DK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da-DK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da-DK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≤</m:t>
                    </m:r>
                    <m:f>
                      <m:fPr>
                        <m:ctrlPr>
                          <a:rPr lang="da-DK" sz="1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da-DK" sz="18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da-DK" sz="18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a-DK" sz="1800" i="1" dirty="0" smtClean="0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da-DK" sz="1800" b="0" i="1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num>
                              <m:den>
                                <m:r>
                                  <a:rPr lang="da-DK" sz="1800" i="1" dirty="0" smtClean="0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da-DK" sz="1800" b="0" i="1" dirty="0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lang="da-DK" sz="1800" dirty="0"/>
                  <a:t>	</a:t>
                </a:r>
              </a:p>
              <a:p>
                <a:endParaRPr lang="da-DK" sz="1800" dirty="0"/>
              </a:p>
              <a:p>
                <a:r>
                  <a:rPr lang="da-DK" sz="1800" dirty="0"/>
                  <a:t>For a </a:t>
                </a:r>
                <a:r>
                  <a:rPr lang="da-DK" sz="1800" dirty="0" err="1"/>
                  <a:t>second</a:t>
                </a:r>
                <a:r>
                  <a:rPr lang="da-DK" sz="1800" dirty="0"/>
                  <a:t> </a:t>
                </a:r>
                <a:r>
                  <a:rPr lang="da-DK" sz="1800" dirty="0" err="1"/>
                  <a:t>order</a:t>
                </a:r>
                <a:r>
                  <a:rPr lang="da-DK" sz="1800" dirty="0"/>
                  <a:t> </a:t>
                </a:r>
                <a:r>
                  <a:rPr lang="da-DK" sz="1800" dirty="0" err="1"/>
                  <a:t>reaction</a:t>
                </a:r>
                <a:r>
                  <a:rPr lang="da-DK" sz="1800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800" i="1">
                            <a:latin typeface="Cambria Math" panose="02040503050406030204" pitchFamily="18" charset="0"/>
                          </a:rPr>
                          <m:t>𝑑𝑐</m:t>
                        </m:r>
                      </m:num>
                      <m:den>
                        <m:r>
                          <a:rPr lang="da-DK" sz="18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da-DK" sz="1800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da-DK" sz="18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da-DK" sz="1800" i="1">
                        <a:latin typeface="Cambria Math" panose="02040503050406030204" pitchFamily="18" charset="0"/>
                      </a:rPr>
                      <m:t>·</m:t>
                    </m:r>
                    <m:sSup>
                      <m:sSupPr>
                        <m:ctrlPr>
                          <a:rPr lang="da-DK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da-DK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da-DK" sz="1800" dirty="0"/>
              </a:p>
              <a:p>
                <a:r>
                  <a:rPr lang="da-DK" sz="1800" dirty="0" err="1"/>
                  <a:t>Stability</a:t>
                </a:r>
                <a:r>
                  <a:rPr lang="da-DK" sz="1800" dirty="0"/>
                  <a:t> </a:t>
                </a:r>
                <a:r>
                  <a:rPr lang="da-DK" sz="1800" dirty="0" err="1"/>
                  <a:t>criterion</a:t>
                </a:r>
                <a:r>
                  <a:rPr lang="da-DK" sz="1800" dirty="0"/>
                  <a:t>: </a:t>
                </a:r>
                <a14:m>
                  <m:oMath xmlns:m="http://schemas.openxmlformats.org/officeDocument/2006/math">
                    <m:r>
                      <a:rPr lang="da-DK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da-DK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da-DK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≤</m:t>
                    </m:r>
                  </m:oMath>
                </a14:m>
                <a:r>
                  <a:rPr lang="da-DK" sz="1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sz="1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800" i="1" dirty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da-DK" sz="18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da-DK" sz="1800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a-DK" sz="1800" i="1" dirty="0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da-DK" sz="1800" i="1" dirty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num>
                              <m:den>
                                <m:r>
                                  <a:rPr lang="da-DK" sz="1800" i="1" dirty="0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da-DK" sz="1800" i="1" dirty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den>
                            </m:f>
                          </m:e>
                        </m:d>
                      </m:den>
                    </m:f>
                    <m:r>
                      <a:rPr lang="da-DK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sz="1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da-DK" sz="1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da-DK" sz="1800" b="0" i="1" dirty="0" smtClean="0">
                            <a:latin typeface="Cambria Math" panose="02040503050406030204" pitchFamily="18" charset="0"/>
                          </a:rPr>
                          <m:t>𝑘𝑐</m:t>
                        </m:r>
                      </m:den>
                    </m:f>
                    <m:r>
                      <a:rPr lang="da-DK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sz="1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a-DK" sz="1800" b="0" i="1" dirty="0" smtClean="0">
                            <a:latin typeface="Cambria Math" panose="02040503050406030204" pitchFamily="18" charset="0"/>
                          </a:rPr>
                          <m:t>𝑘𝑐</m:t>
                        </m:r>
                      </m:den>
                    </m:f>
                  </m:oMath>
                </a14:m>
                <a:endParaRPr lang="da-DK" sz="1800" dirty="0"/>
              </a:p>
              <a:p>
                <a:r>
                  <a:rPr lang="da-DK" sz="1800" dirty="0"/>
                  <a:t> </a:t>
                </a:r>
              </a:p>
            </p:txBody>
          </p:sp>
        </mc:Choice>
        <mc:Fallback xmlns=""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8356DAEE-3C17-8651-B44E-854E30485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65125"/>
                <a:ext cx="10515600" cy="1325563"/>
              </a:xfrm>
              <a:prstGeom prst="rect">
                <a:avLst/>
              </a:prstGeom>
              <a:blipFill>
                <a:blip r:embed="rId2"/>
                <a:stretch>
                  <a:fillRect l="-2377" t="-14286" b="-280184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2506362-6690-B5DF-0451-2191E6D46FCD}"/>
                  </a:ext>
                </a:extLst>
              </p:cNvPr>
              <p:cNvSpPr txBox="1"/>
              <p:nvPr/>
            </p:nvSpPr>
            <p:spPr>
              <a:xfrm>
                <a:off x="934719" y="1698738"/>
                <a:ext cx="5045997" cy="3989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𝑑𝑐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·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da-DK" dirty="0"/>
                  <a:t> is a stable ODE with </a:t>
                </a:r>
                <a:r>
                  <a:rPr lang="da-DK" dirty="0" err="1"/>
                  <a:t>analytical</a:t>
                </a:r>
                <a:r>
                  <a:rPr lang="da-DK" dirty="0"/>
                  <a:t> solution: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2506362-6690-B5DF-0451-2191E6D46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719" y="1698738"/>
                <a:ext cx="5045997" cy="398955"/>
              </a:xfrm>
              <a:prstGeom prst="rect">
                <a:avLst/>
              </a:prstGeom>
              <a:blipFill>
                <a:blip r:embed="rId3"/>
                <a:stretch>
                  <a:fillRect l="-1087" t="-1538" r="-2899" b="-2307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613DD73-8AF1-4C9B-5429-326429C4AA2A}"/>
                  </a:ext>
                </a:extLst>
              </p:cNvPr>
              <p:cNvSpPr txBox="1"/>
              <p:nvPr/>
            </p:nvSpPr>
            <p:spPr>
              <a:xfrm>
                <a:off x="6211286" y="1721446"/>
                <a:ext cx="1106906" cy="281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𝑘𝑡</m:t>
                          </m:r>
                        </m:sup>
                      </m:sSup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613DD73-8AF1-4C9B-5429-326429C4A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1286" y="1721446"/>
                <a:ext cx="1106906" cy="281937"/>
              </a:xfrm>
              <a:prstGeom prst="rect">
                <a:avLst/>
              </a:prstGeom>
              <a:blipFill>
                <a:blip r:embed="rId4"/>
                <a:stretch>
                  <a:fillRect l="-2762" t="-2128" r="-1657" b="-1276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7F40994F-2DBA-0DB5-D37F-2FF6E6D94F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716" y="2310140"/>
            <a:ext cx="5239481" cy="3962953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F4045DE-DDFF-13DC-85CD-BBFFF79991F9}"/>
              </a:ext>
            </a:extLst>
          </p:cNvPr>
          <p:cNvCxnSpPr>
            <a:cxnSpLocks/>
          </p:cNvCxnSpPr>
          <p:nvPr/>
        </p:nvCxnSpPr>
        <p:spPr>
          <a:xfrm flipH="1" flipV="1">
            <a:off x="4466492" y="5275385"/>
            <a:ext cx="105508" cy="2007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C109F17-8FE2-C6E2-973D-6FEB0A35E53E}"/>
              </a:ext>
            </a:extLst>
          </p:cNvPr>
          <p:cNvSpPr/>
          <p:nvPr/>
        </p:nvSpPr>
        <p:spPr>
          <a:xfrm>
            <a:off x="3810000" y="5476109"/>
            <a:ext cx="2579667" cy="1320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/>
              <a:t>c change with time, </a:t>
            </a:r>
          </a:p>
          <a:p>
            <a:r>
              <a:rPr lang="da-DK"/>
              <a:t>so stability criterion changes with time as well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36544120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333996-C6F0-D79E-0D7B-18FB99B9F024}"/>
              </a:ext>
            </a:extLst>
          </p:cNvPr>
          <p:cNvSpPr txBox="1"/>
          <p:nvPr/>
        </p:nvSpPr>
        <p:spPr>
          <a:xfrm>
            <a:off x="808893" y="468924"/>
            <a:ext cx="126023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4400" dirty="0" err="1">
                <a:latin typeface="+mj-lt"/>
                <a:ea typeface="+mj-ea"/>
                <a:cs typeface="+mj-cs"/>
              </a:rPr>
              <a:t>Solver</a:t>
            </a:r>
            <a:r>
              <a:rPr lang="da-DK" sz="4400" dirty="0">
                <a:latin typeface="+mj-lt"/>
                <a:ea typeface="+mj-ea"/>
                <a:cs typeface="+mj-cs"/>
              </a:rPr>
              <a:t> </a:t>
            </a:r>
            <a:r>
              <a:rPr lang="da-DK" sz="4400" dirty="0" err="1">
                <a:latin typeface="+mj-lt"/>
                <a:ea typeface="+mj-ea"/>
                <a:cs typeface="+mj-cs"/>
              </a:rPr>
              <a:t>methods</a:t>
            </a:r>
            <a:r>
              <a:rPr lang="da-DK" sz="4400" dirty="0">
                <a:latin typeface="+mj-lt"/>
                <a:ea typeface="+mj-ea"/>
                <a:cs typeface="+mj-cs"/>
              </a:rPr>
              <a:t> in </a:t>
            </a:r>
            <a:r>
              <a:rPr lang="da-DK" sz="4400" dirty="0" err="1">
                <a:latin typeface="+mj-lt"/>
                <a:ea typeface="+mj-ea"/>
                <a:cs typeface="+mj-cs"/>
              </a:rPr>
              <a:t>solve_ivp</a:t>
            </a:r>
            <a:r>
              <a:rPr lang="da-DK" sz="4400" dirty="0">
                <a:latin typeface="+mj-lt"/>
                <a:ea typeface="+mj-ea"/>
                <a:cs typeface="+mj-cs"/>
              </a:rPr>
              <a:t> </a:t>
            </a:r>
            <a:r>
              <a:rPr lang="da-DK" sz="4400" dirty="0" err="1">
                <a:latin typeface="+mj-lt"/>
                <a:ea typeface="+mj-ea"/>
                <a:cs typeface="+mj-cs"/>
              </a:rPr>
              <a:t>adapts</a:t>
            </a:r>
            <a:r>
              <a:rPr lang="da-DK" sz="4400" dirty="0">
                <a:latin typeface="+mj-lt"/>
                <a:ea typeface="+mj-ea"/>
                <a:cs typeface="+mj-cs"/>
              </a:rPr>
              <a:t> time steps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16EB5ED-8502-7ABF-4393-2FE5FAC0D6F6}"/>
                  </a:ext>
                </a:extLst>
              </p:cNvPr>
              <p:cNvSpPr txBox="1"/>
              <p:nvPr/>
            </p:nvSpPr>
            <p:spPr>
              <a:xfrm>
                <a:off x="914400" y="1699846"/>
                <a:ext cx="10199077" cy="46398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da-DK" sz="2800" dirty="0"/>
                  <a:t>So the solution </a:t>
                </a:r>
                <a:r>
                  <a:rPr lang="da-DK" sz="2800" dirty="0" err="1"/>
                  <a:t>stays</a:t>
                </a:r>
                <a:r>
                  <a:rPr lang="da-DK" sz="2800" dirty="0"/>
                  <a:t> stable (</a:t>
                </a:r>
                <a:r>
                  <a:rPr lang="da-DK" sz="2800" dirty="0" err="1"/>
                  <a:t>defined</a:t>
                </a:r>
                <a:r>
                  <a:rPr lang="da-DK" sz="2800" dirty="0"/>
                  <a:t> by ”</a:t>
                </a:r>
                <a:r>
                  <a:rPr lang="da-DK" sz="2800" dirty="0" err="1"/>
                  <a:t>rtol</a:t>
                </a:r>
                <a:r>
                  <a:rPr lang="da-DK" sz="2800" dirty="0"/>
                  <a:t>” or ”atol” argument)</a:t>
                </a: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endParaRPr lang="da-DK" sz="2800" dirty="0"/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da-DK" sz="2800" dirty="0"/>
                  <a:t>This </a:t>
                </a:r>
                <a:r>
                  <a:rPr lang="da-DK" sz="2800" dirty="0" err="1"/>
                  <a:t>can</a:t>
                </a:r>
                <a:r>
                  <a:rPr lang="da-DK" sz="2800" dirty="0"/>
                  <a:t> </a:t>
                </a:r>
                <a:r>
                  <a:rPr lang="da-DK" sz="2800" dirty="0" err="1"/>
                  <a:t>increase</a:t>
                </a:r>
                <a:r>
                  <a:rPr lang="da-DK" sz="2800" dirty="0"/>
                  <a:t> </a:t>
                </a:r>
                <a:r>
                  <a:rPr lang="da-DK" sz="2800" dirty="0" err="1"/>
                  <a:t>computation</a:t>
                </a:r>
                <a:r>
                  <a:rPr lang="da-DK" sz="2800" dirty="0"/>
                  <a:t> time, </a:t>
                </a:r>
                <a:r>
                  <a:rPr lang="da-DK" sz="2800" dirty="0" err="1"/>
                  <a:t>because</a:t>
                </a:r>
                <a:r>
                  <a:rPr lang="da-DK" sz="2800" dirty="0"/>
                  <a:t> the </a:t>
                </a:r>
                <a:r>
                  <a:rPr lang="da-DK" sz="2800" dirty="0" err="1"/>
                  <a:t>solver</a:t>
                </a:r>
                <a:r>
                  <a:rPr lang="da-DK" sz="2800" dirty="0"/>
                  <a:t> </a:t>
                </a:r>
                <a:r>
                  <a:rPr lang="da-DK" sz="2800" dirty="0" err="1"/>
                  <a:t>will</a:t>
                </a:r>
                <a:r>
                  <a:rPr lang="da-DK" sz="2800" dirty="0"/>
                  <a:t> </a:t>
                </a:r>
                <a:r>
                  <a:rPr lang="da-DK" sz="2800" dirty="0" err="1"/>
                  <a:t>use</a:t>
                </a:r>
                <a:r>
                  <a:rPr lang="da-DK" sz="2800" dirty="0"/>
                  <a:t> </a:t>
                </a:r>
                <a:r>
                  <a:rPr lang="da-DK" sz="2800" dirty="0" err="1"/>
                  <a:t>very</a:t>
                </a:r>
                <a:r>
                  <a:rPr lang="da-DK" sz="2800" dirty="0"/>
                  <a:t> small </a:t>
                </a:r>
                <a14:m>
                  <m:oMath xmlns:m="http://schemas.openxmlformats.org/officeDocument/2006/math">
                    <m:r>
                      <a:rPr lang="da-DK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da-DK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da-DK" sz="2800" dirty="0"/>
                  <a:t> to </a:t>
                </a:r>
                <a:r>
                  <a:rPr lang="da-DK" sz="2800" dirty="0" err="1"/>
                  <a:t>achieve</a:t>
                </a:r>
                <a:r>
                  <a:rPr lang="da-DK" sz="2800" dirty="0"/>
                  <a:t> the </a:t>
                </a:r>
                <a:r>
                  <a:rPr lang="da-DK" sz="2800" dirty="0" err="1"/>
                  <a:t>specified</a:t>
                </a:r>
                <a:r>
                  <a:rPr lang="da-DK" sz="2800" dirty="0"/>
                  <a:t> tolerance.</a:t>
                </a: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endParaRPr lang="da-DK" sz="2800" dirty="0"/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da-DK" sz="2800" dirty="0"/>
                  <a:t>For 1D diffusion/</a:t>
                </a:r>
                <a:r>
                  <a:rPr lang="da-DK" sz="2800" dirty="0" err="1"/>
                  <a:t>conduction</a:t>
                </a:r>
                <a:r>
                  <a:rPr lang="da-DK" sz="2800" dirty="0"/>
                  <a:t> problem: </a:t>
                </a:r>
                <a:r>
                  <a:rPr lang="da-DK" sz="2800" dirty="0" err="1"/>
                  <a:t>stability</a:t>
                </a:r>
                <a:r>
                  <a:rPr lang="da-DK" sz="2800" dirty="0"/>
                  <a:t> </a:t>
                </a:r>
                <a:r>
                  <a:rPr lang="da-DK" sz="2800" dirty="0" err="1"/>
                  <a:t>criterion</a:t>
                </a:r>
                <a:r>
                  <a:rPr lang="da-DK" sz="2800" dirty="0"/>
                  <a:t> for Euler forward </a:t>
                </a:r>
                <a:r>
                  <a:rPr lang="da-DK" sz="2800" dirty="0" err="1"/>
                  <a:t>when</a:t>
                </a:r>
                <a:r>
                  <a:rPr lang="da-DK" sz="2800" dirty="0"/>
                  <a:t> </a:t>
                </a:r>
                <a:r>
                  <a:rPr lang="da-DK" sz="2800" dirty="0" err="1"/>
                  <a:t>using</a:t>
                </a:r>
                <a:r>
                  <a:rPr lang="da-DK" sz="2800" dirty="0"/>
                  <a:t> central difference </a:t>
                </a:r>
                <a:r>
                  <a:rPr lang="da-DK" sz="2800" dirty="0" err="1"/>
                  <a:t>discretization</a:t>
                </a:r>
                <a:r>
                  <a:rPr lang="da-DK" sz="2800" dirty="0"/>
                  <a:t>: </a:t>
                </a:r>
                <a14:m>
                  <m:oMath xmlns:m="http://schemas.openxmlformats.org/officeDocument/2006/math">
                    <m:r>
                      <a:rPr lang="da-DK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da-DK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da-DK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≤ </m:t>
                    </m:r>
                    <m:f>
                      <m:fPr>
                        <m:ctrlPr>
                          <a:rPr lang="da-DK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da-DK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𝑑𝑥</m:t>
                            </m:r>
                          </m:e>
                          <m:sup>
                            <m:r>
                              <a:rPr lang="da-DK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da-DK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2∙</m:t>
                        </m:r>
                        <m:r>
                          <a:rPr lang="da-DK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den>
                    </m:f>
                  </m:oMath>
                </a14:m>
                <a:endParaRPr lang="da-DK" sz="2800" dirty="0"/>
              </a:p>
              <a:p>
                <a:endParaRPr lang="da-DK" sz="28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16EB5ED-8502-7ABF-4393-2FE5FAC0D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699846"/>
                <a:ext cx="10199077" cy="4639860"/>
              </a:xfrm>
              <a:prstGeom prst="rect">
                <a:avLst/>
              </a:prstGeom>
              <a:blipFill>
                <a:blip r:embed="rId2"/>
                <a:stretch>
                  <a:fillRect l="-1016" t="-144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30960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7DBF2F4-F33E-962E-21B6-0656BA1CEE08}"/>
              </a:ext>
            </a:extLst>
          </p:cNvPr>
          <p:cNvGrpSpPr/>
          <p:nvPr/>
        </p:nvGrpSpPr>
        <p:grpSpPr>
          <a:xfrm>
            <a:off x="155869" y="26938"/>
            <a:ext cx="5880497" cy="6725554"/>
            <a:chOff x="215503" y="354925"/>
            <a:chExt cx="5880497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C5AC38D-511B-20DB-8BD3-F22BA47D94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9003" y="354925"/>
              <a:ext cx="5816997" cy="685800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301AEC4-86BF-B29F-A3C4-4DDE7B852098}"/>
                </a:ext>
              </a:extLst>
            </p:cNvPr>
            <p:cNvSpPr/>
            <p:nvPr/>
          </p:nvSpPr>
          <p:spPr>
            <a:xfrm>
              <a:off x="279003" y="609600"/>
              <a:ext cx="5728097" cy="3937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BD1C52E-88C8-5C77-E1FF-0E7CB2DA2DD0}"/>
                </a:ext>
              </a:extLst>
            </p:cNvPr>
            <p:cNvSpPr/>
            <p:nvPr/>
          </p:nvSpPr>
          <p:spPr>
            <a:xfrm>
              <a:off x="215503" y="1600200"/>
              <a:ext cx="5728097" cy="7493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CA42293-3FAC-FA43-5207-0D1B39F22577}"/>
              </a:ext>
            </a:extLst>
          </p:cNvPr>
          <p:cNvSpPr txBox="1"/>
          <p:nvPr/>
        </p:nvSpPr>
        <p:spPr>
          <a:xfrm>
            <a:off x="6663098" y="2697217"/>
            <a:ext cx="530953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2800" dirty="0"/>
              <a:t>For more </a:t>
            </a:r>
            <a:r>
              <a:rPr lang="da-DK" sz="2800" dirty="0" err="1"/>
              <a:t>advanced</a:t>
            </a:r>
            <a:r>
              <a:rPr lang="da-DK" sz="2800" dirty="0"/>
              <a:t> problems, </a:t>
            </a:r>
            <a:r>
              <a:rPr lang="da-DK" sz="2800" dirty="0" err="1"/>
              <a:t>stability</a:t>
            </a:r>
            <a:r>
              <a:rPr lang="da-DK" sz="2800" dirty="0"/>
              <a:t> </a:t>
            </a:r>
            <a:r>
              <a:rPr lang="da-DK" sz="2800" dirty="0" err="1"/>
              <a:t>criteria</a:t>
            </a:r>
            <a:r>
              <a:rPr lang="da-DK" sz="2800" dirty="0"/>
              <a:t> </a:t>
            </a:r>
            <a:r>
              <a:rPr lang="da-DK" sz="2800" dirty="0" err="1"/>
              <a:t>change</a:t>
            </a:r>
            <a:r>
              <a:rPr lang="da-DK" sz="2800" dirty="0"/>
              <a:t> – out of </a:t>
            </a:r>
            <a:r>
              <a:rPr lang="da-DK" sz="2800" dirty="0" err="1"/>
              <a:t>scope</a:t>
            </a:r>
            <a:r>
              <a:rPr lang="da-DK" sz="2800" dirty="0"/>
              <a:t> – but </a:t>
            </a:r>
            <a:r>
              <a:rPr lang="da-DK" sz="2800" dirty="0" err="1"/>
              <a:t>nice</a:t>
            </a:r>
            <a:r>
              <a:rPr lang="da-DK" sz="2800" dirty="0"/>
              <a:t> to </a:t>
            </a:r>
            <a:r>
              <a:rPr lang="da-DK" sz="2800" dirty="0" err="1"/>
              <a:t>know</a:t>
            </a:r>
            <a:r>
              <a:rPr lang="da-DK" sz="2800" dirty="0"/>
              <a:t> </a:t>
            </a:r>
            <a:r>
              <a:rPr lang="da-DK" sz="2800" dirty="0" err="1"/>
              <a:t>that</a:t>
            </a:r>
            <a:r>
              <a:rPr lang="da-DK" sz="2800" dirty="0"/>
              <a:t> </a:t>
            </a:r>
            <a:r>
              <a:rPr lang="da-DK" sz="2800" dirty="0" err="1"/>
              <a:t>criteria</a:t>
            </a:r>
            <a:r>
              <a:rPr lang="da-DK" sz="2800" dirty="0"/>
              <a:t> </a:t>
            </a:r>
            <a:r>
              <a:rPr lang="da-DK" sz="2800" dirty="0" err="1"/>
              <a:t>depends</a:t>
            </a:r>
            <a:r>
              <a:rPr lang="da-DK" sz="2800" dirty="0"/>
              <a:t> on </a:t>
            </a:r>
            <a:r>
              <a:rPr lang="da-DK" sz="2800" dirty="0" err="1"/>
              <a:t>both</a:t>
            </a:r>
            <a:r>
              <a:rPr lang="da-DK" sz="2800" dirty="0"/>
              <a:t> the </a:t>
            </a:r>
            <a:r>
              <a:rPr lang="da-DK" sz="2800" dirty="0" err="1"/>
              <a:t>equation</a:t>
            </a:r>
            <a:r>
              <a:rPr lang="da-DK" sz="2800" dirty="0"/>
              <a:t>, time integration </a:t>
            </a:r>
            <a:r>
              <a:rPr lang="da-DK" sz="2800" dirty="0" err="1"/>
              <a:t>method</a:t>
            </a:r>
            <a:r>
              <a:rPr lang="da-DK" sz="2800" dirty="0"/>
              <a:t>, and </a:t>
            </a:r>
            <a:r>
              <a:rPr lang="da-DK" sz="2800" dirty="0" err="1"/>
              <a:t>discretization</a:t>
            </a:r>
            <a:r>
              <a:rPr lang="da-DK" sz="2800" dirty="0"/>
              <a:t> </a:t>
            </a:r>
            <a:r>
              <a:rPr lang="da-DK" sz="2800" dirty="0" err="1"/>
              <a:t>method</a:t>
            </a:r>
            <a:r>
              <a:rPr lang="da-DK" sz="2800" dirty="0"/>
              <a:t>! </a:t>
            </a:r>
            <a:r>
              <a:rPr lang="da-DK" sz="2800" dirty="0">
                <a:sym typeface="Wingdings" panose="05000000000000000000" pitchFamily="2" charset="2"/>
              </a:rPr>
              <a:t></a:t>
            </a:r>
            <a:endParaRPr lang="da-DK" sz="2800" dirty="0"/>
          </a:p>
        </p:txBody>
      </p:sp>
    </p:spTree>
    <p:extLst>
      <p:ext uri="{BB962C8B-B14F-4D97-AF65-F5344CB8AC3E}">
        <p14:creationId xmlns:p14="http://schemas.microsoft.com/office/powerpoint/2010/main" val="322747248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404CEA-7D1A-7C4F-2D88-2BB4305D89AF}"/>
              </a:ext>
            </a:extLst>
          </p:cNvPr>
          <p:cNvSpPr txBox="1"/>
          <p:nvPr/>
        </p:nvSpPr>
        <p:spPr>
          <a:xfrm>
            <a:off x="351694" y="304801"/>
            <a:ext cx="1159412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4400" dirty="0" err="1">
                <a:latin typeface="+mj-lt"/>
                <a:ea typeface="+mj-ea"/>
                <a:cs typeface="+mj-cs"/>
              </a:rPr>
              <a:t>When</a:t>
            </a:r>
            <a:r>
              <a:rPr lang="da-DK" sz="4400" dirty="0">
                <a:latin typeface="+mj-lt"/>
                <a:ea typeface="+mj-ea"/>
                <a:cs typeface="+mj-cs"/>
              </a:rPr>
              <a:t> </a:t>
            </a:r>
            <a:r>
              <a:rPr lang="da-DK" sz="4400" dirty="0" err="1">
                <a:latin typeface="+mj-lt"/>
                <a:ea typeface="+mj-ea"/>
                <a:cs typeface="+mj-cs"/>
              </a:rPr>
              <a:t>we</a:t>
            </a:r>
            <a:r>
              <a:rPr lang="da-DK" sz="4400" dirty="0">
                <a:latin typeface="+mj-lt"/>
                <a:ea typeface="+mj-ea"/>
                <a:cs typeface="+mj-cs"/>
              </a:rPr>
              <a:t> test </a:t>
            </a:r>
            <a:r>
              <a:rPr lang="da-DK" sz="4400" dirty="0" err="1">
                <a:latin typeface="+mj-lt"/>
                <a:ea typeface="+mj-ea"/>
                <a:cs typeface="+mj-cs"/>
              </a:rPr>
              <a:t>convergence</a:t>
            </a:r>
            <a:r>
              <a:rPr lang="da-DK" sz="4400" dirty="0">
                <a:latin typeface="+mj-lt"/>
                <a:ea typeface="+mj-ea"/>
                <a:cs typeface="+mj-cs"/>
              </a:rPr>
              <a:t> </a:t>
            </a:r>
            <a:r>
              <a:rPr lang="da-DK" sz="4400" dirty="0" err="1">
                <a:latin typeface="+mj-lt"/>
                <a:ea typeface="+mj-ea"/>
                <a:cs typeface="+mj-cs"/>
              </a:rPr>
              <a:t>we</a:t>
            </a:r>
            <a:r>
              <a:rPr lang="da-DK" sz="4400" dirty="0">
                <a:latin typeface="+mj-lt"/>
                <a:ea typeface="+mj-ea"/>
                <a:cs typeface="+mj-cs"/>
              </a:rPr>
              <a:t> </a:t>
            </a:r>
            <a:r>
              <a:rPr lang="da-DK" sz="4400" dirty="0" err="1">
                <a:latin typeface="+mj-lt"/>
                <a:ea typeface="+mj-ea"/>
                <a:cs typeface="+mj-cs"/>
              </a:rPr>
              <a:t>need</a:t>
            </a:r>
            <a:r>
              <a:rPr lang="da-DK" sz="4400" dirty="0">
                <a:latin typeface="+mj-lt"/>
                <a:ea typeface="+mj-ea"/>
                <a:cs typeface="+mj-cs"/>
              </a:rPr>
              <a:t> the solution to </a:t>
            </a:r>
            <a:r>
              <a:rPr lang="da-DK" sz="4400" dirty="0" err="1">
                <a:latin typeface="+mj-lt"/>
                <a:ea typeface="+mj-ea"/>
                <a:cs typeface="+mj-cs"/>
              </a:rPr>
              <a:t>be</a:t>
            </a:r>
            <a:r>
              <a:rPr lang="da-DK" sz="4400" dirty="0">
                <a:latin typeface="+mj-lt"/>
                <a:ea typeface="+mj-ea"/>
                <a:cs typeface="+mj-cs"/>
              </a:rPr>
              <a:t> stable or with </a:t>
            </a:r>
            <a:r>
              <a:rPr lang="da-DK" sz="4400" dirty="0" err="1">
                <a:latin typeface="+mj-lt"/>
                <a:ea typeface="+mj-ea"/>
                <a:cs typeface="+mj-cs"/>
              </a:rPr>
              <a:t>only</a:t>
            </a:r>
            <a:r>
              <a:rPr lang="da-DK" sz="4400" dirty="0">
                <a:latin typeface="+mj-lt"/>
                <a:ea typeface="+mj-ea"/>
                <a:cs typeface="+mj-cs"/>
              </a:rPr>
              <a:t> small </a:t>
            </a:r>
            <a:r>
              <a:rPr lang="da-DK" sz="4400" dirty="0" err="1">
                <a:latin typeface="+mj-lt"/>
                <a:ea typeface="+mj-ea"/>
                <a:cs typeface="+mj-cs"/>
              </a:rPr>
              <a:t>error</a:t>
            </a:r>
            <a:r>
              <a:rPr lang="da-DK" sz="4400" dirty="0">
                <a:latin typeface="+mj-lt"/>
                <a:ea typeface="+mj-ea"/>
                <a:cs typeface="+mj-cs"/>
              </a:rPr>
              <a:t> in the time integration</a:t>
            </a:r>
          </a:p>
          <a:p>
            <a:endParaRPr lang="da-DK" sz="4400" dirty="0">
              <a:latin typeface="+mj-lt"/>
              <a:ea typeface="+mj-ea"/>
              <a:cs typeface="+mj-cs"/>
            </a:endParaRPr>
          </a:p>
          <a:p>
            <a:endParaRPr lang="da-DK" sz="4400" dirty="0"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E05527-5747-6E90-7214-91D8389B892A}"/>
              </a:ext>
            </a:extLst>
          </p:cNvPr>
          <p:cNvSpPr txBox="1"/>
          <p:nvPr/>
        </p:nvSpPr>
        <p:spPr>
          <a:xfrm>
            <a:off x="351694" y="2698673"/>
            <a:ext cx="1037492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da-DK" sz="2000" dirty="0" err="1"/>
              <a:t>Solve_ivp</a:t>
            </a:r>
            <a:r>
              <a:rPr lang="da-DK" sz="2000" dirty="0"/>
              <a:t> </a:t>
            </a:r>
            <a:r>
              <a:rPr lang="da-DK" sz="2000" dirty="0" err="1"/>
              <a:t>ensures</a:t>
            </a:r>
            <a:r>
              <a:rPr lang="da-DK" sz="2000" dirty="0"/>
              <a:t> stable output, but </a:t>
            </a:r>
            <a:r>
              <a:rPr lang="da-DK" sz="2000" dirty="0" err="1"/>
              <a:t>we</a:t>
            </a:r>
            <a:r>
              <a:rPr lang="da-DK" sz="2000" dirty="0"/>
              <a:t> have to </a:t>
            </a:r>
            <a:r>
              <a:rPr lang="da-DK" sz="2000" dirty="0" err="1"/>
              <a:t>ensure</a:t>
            </a:r>
            <a:r>
              <a:rPr lang="da-DK" sz="2000" dirty="0"/>
              <a:t> the </a:t>
            </a:r>
            <a:r>
              <a:rPr lang="da-DK" sz="2000" dirty="0" err="1"/>
              <a:t>grid</a:t>
            </a:r>
            <a:r>
              <a:rPr lang="da-DK" sz="2000" dirty="0"/>
              <a:t> </a:t>
            </a:r>
            <a:r>
              <a:rPr lang="da-DK" sz="2000" dirty="0" err="1"/>
              <a:t>size</a:t>
            </a:r>
            <a:r>
              <a:rPr lang="da-DK" sz="2000" dirty="0"/>
              <a:t> is </a:t>
            </a:r>
            <a:r>
              <a:rPr lang="da-DK" sz="2000" dirty="0" err="1"/>
              <a:t>appropriate</a:t>
            </a:r>
            <a:endParaRPr lang="da-DK" sz="2000" dirty="0"/>
          </a:p>
          <a:p>
            <a:endParaRPr lang="da-DK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a-DK" sz="2000" dirty="0"/>
              <a:t>Smaller dx </a:t>
            </a:r>
            <a:r>
              <a:rPr lang="da-DK" sz="2000" dirty="0">
                <a:sym typeface="Wingdings" panose="05000000000000000000" pitchFamily="2" charset="2"/>
              </a:rPr>
              <a:t> more </a:t>
            </a:r>
            <a:r>
              <a:rPr lang="da-DK" sz="2000" dirty="0" err="1">
                <a:sym typeface="Wingdings" panose="05000000000000000000" pitchFamily="2" charset="2"/>
              </a:rPr>
              <a:t>accurate</a:t>
            </a:r>
            <a:r>
              <a:rPr lang="da-DK" sz="2000" dirty="0">
                <a:sym typeface="Wingdings" panose="05000000000000000000" pitchFamily="2" charset="2"/>
              </a:rPr>
              <a:t>, but </a:t>
            </a:r>
            <a:r>
              <a:rPr lang="da-DK" sz="2000" dirty="0" err="1">
                <a:sym typeface="Wingdings" panose="05000000000000000000" pitchFamily="2" charset="2"/>
              </a:rPr>
              <a:t>higher</a:t>
            </a:r>
            <a:r>
              <a:rPr lang="da-DK" sz="2000" dirty="0">
                <a:sym typeface="Wingdings" panose="05000000000000000000" pitchFamily="2" charset="2"/>
              </a:rPr>
              <a:t> </a:t>
            </a:r>
            <a:r>
              <a:rPr lang="da-DK" sz="2000" dirty="0" err="1">
                <a:sym typeface="Wingdings" panose="05000000000000000000" pitchFamily="2" charset="2"/>
              </a:rPr>
              <a:t>requirements</a:t>
            </a:r>
            <a:r>
              <a:rPr lang="da-DK" sz="2000" dirty="0">
                <a:sym typeface="Wingdings" panose="05000000000000000000" pitchFamily="2" charset="2"/>
              </a:rPr>
              <a:t> for </a:t>
            </a:r>
            <a:r>
              <a:rPr lang="da-DK" sz="2000" dirty="0" err="1">
                <a:sym typeface="Wingdings" panose="05000000000000000000" pitchFamily="2" charset="2"/>
              </a:rPr>
              <a:t>solve_ivp</a:t>
            </a:r>
            <a:r>
              <a:rPr lang="da-DK" sz="2000" dirty="0">
                <a:sym typeface="Wingdings" panose="05000000000000000000" pitchFamily="2" charset="2"/>
              </a:rPr>
              <a:t> to </a:t>
            </a:r>
            <a:r>
              <a:rPr lang="da-DK" sz="2000" dirty="0" err="1">
                <a:sym typeface="Wingdings" panose="05000000000000000000" pitchFamily="2" charset="2"/>
              </a:rPr>
              <a:t>keep</a:t>
            </a:r>
            <a:r>
              <a:rPr lang="da-DK" sz="2000" dirty="0">
                <a:sym typeface="Wingdings" panose="05000000000000000000" pitchFamily="2" charset="2"/>
              </a:rPr>
              <a:t> stable solution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a-DK" sz="2000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a-DK" sz="2000" dirty="0" err="1">
                <a:sym typeface="Wingdings" panose="05000000000000000000" pitchFamily="2" charset="2"/>
              </a:rPr>
              <a:t>We</a:t>
            </a:r>
            <a:r>
              <a:rPr lang="da-DK" sz="2000" dirty="0">
                <a:sym typeface="Wingdings" panose="05000000000000000000" pitchFamily="2" charset="2"/>
              </a:rPr>
              <a:t> </a:t>
            </a:r>
            <a:r>
              <a:rPr lang="da-DK" sz="2000" dirty="0" err="1">
                <a:sym typeface="Wingdings" panose="05000000000000000000" pitchFamily="2" charset="2"/>
              </a:rPr>
              <a:t>are</a:t>
            </a:r>
            <a:r>
              <a:rPr lang="da-DK" sz="2000" dirty="0">
                <a:sym typeface="Wingdings" panose="05000000000000000000" pitchFamily="2" charset="2"/>
              </a:rPr>
              <a:t> </a:t>
            </a:r>
            <a:r>
              <a:rPr lang="da-DK" sz="2000" dirty="0" err="1">
                <a:sym typeface="Wingdings" panose="05000000000000000000" pitchFamily="2" charset="2"/>
              </a:rPr>
              <a:t>interested</a:t>
            </a:r>
            <a:r>
              <a:rPr lang="da-DK" sz="2000" dirty="0">
                <a:sym typeface="Wingdings" panose="05000000000000000000" pitchFamily="2" charset="2"/>
              </a:rPr>
              <a:t> in the dx </a:t>
            </a:r>
            <a:r>
              <a:rPr lang="da-DK" sz="2000" dirty="0" err="1">
                <a:sym typeface="Wingdings" panose="05000000000000000000" pitchFamily="2" charset="2"/>
              </a:rPr>
              <a:t>that</a:t>
            </a:r>
            <a:r>
              <a:rPr lang="da-DK" sz="2000" dirty="0">
                <a:sym typeface="Wingdings" panose="05000000000000000000" pitchFamily="2" charset="2"/>
              </a:rPr>
              <a:t> gives an </a:t>
            </a:r>
            <a:r>
              <a:rPr lang="da-DK" sz="2000" dirty="0" err="1">
                <a:sym typeface="Wingdings" panose="05000000000000000000" pitchFamily="2" charset="2"/>
              </a:rPr>
              <a:t>accurate</a:t>
            </a:r>
            <a:r>
              <a:rPr lang="da-DK" sz="2000">
                <a:sym typeface="Wingdings" panose="05000000000000000000" pitchFamily="2" charset="2"/>
              </a:rPr>
              <a:t> solution </a:t>
            </a:r>
            <a:r>
              <a:rPr lang="da-DK" sz="2000" dirty="0">
                <a:sym typeface="Wingdings" panose="05000000000000000000" pitchFamily="2" charset="2"/>
              </a:rPr>
              <a:t>(</a:t>
            </a:r>
            <a:r>
              <a:rPr lang="da-DK" sz="2000" dirty="0" err="1">
                <a:sym typeface="Wingdings" panose="05000000000000000000" pitchFamily="2" charset="2"/>
              </a:rPr>
              <a:t>depends</a:t>
            </a:r>
            <a:r>
              <a:rPr lang="da-DK" sz="2000" dirty="0">
                <a:sym typeface="Wingdings" panose="05000000000000000000" pitchFamily="2" charset="2"/>
              </a:rPr>
              <a:t> on the tolerance </a:t>
            </a:r>
            <a:r>
              <a:rPr lang="da-DK" sz="2000" dirty="0" err="1">
                <a:sym typeface="Wingdings" panose="05000000000000000000" pitchFamily="2" charset="2"/>
              </a:rPr>
              <a:t>needed</a:t>
            </a:r>
            <a:r>
              <a:rPr lang="da-DK" sz="2000" dirty="0">
                <a:sym typeface="Wingdings" panose="05000000000000000000" pitchFamily="2" charset="2"/>
              </a:rPr>
              <a:t>), but with minimum </a:t>
            </a:r>
            <a:r>
              <a:rPr lang="da-DK" sz="2000" dirty="0" err="1">
                <a:sym typeface="Wingdings" panose="05000000000000000000" pitchFamily="2" charset="2"/>
              </a:rPr>
              <a:t>solve_ivp</a:t>
            </a:r>
            <a:r>
              <a:rPr lang="da-DK" sz="2000" dirty="0">
                <a:sym typeface="Wingdings" panose="05000000000000000000" pitchFamily="2" charset="2"/>
              </a:rPr>
              <a:t> simulation time!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a-DK" sz="2000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a-DK" sz="2000" dirty="0" err="1">
                <a:sym typeface="Wingdings" panose="05000000000000000000" pitchFamily="2" charset="2"/>
              </a:rPr>
              <a:t>We</a:t>
            </a:r>
            <a:r>
              <a:rPr lang="da-DK" sz="2000" dirty="0">
                <a:sym typeface="Wingdings" panose="05000000000000000000" pitchFamily="2" charset="2"/>
              </a:rPr>
              <a:t> </a:t>
            </a:r>
            <a:r>
              <a:rPr lang="da-DK" sz="2000" dirty="0" err="1">
                <a:sym typeface="Wingdings" panose="05000000000000000000" pitchFamily="2" charset="2"/>
              </a:rPr>
              <a:t>will</a:t>
            </a:r>
            <a:r>
              <a:rPr lang="da-DK" sz="2000" dirty="0">
                <a:sym typeface="Wingdings" panose="05000000000000000000" pitchFamily="2" charset="2"/>
              </a:rPr>
              <a:t> test </a:t>
            </a:r>
            <a:r>
              <a:rPr lang="da-DK" sz="2000" dirty="0" err="1">
                <a:sym typeface="Wingdings" panose="05000000000000000000" pitchFamily="2" charset="2"/>
              </a:rPr>
              <a:t>different</a:t>
            </a:r>
            <a:r>
              <a:rPr lang="da-DK" sz="2000" dirty="0">
                <a:sym typeface="Wingdings" panose="05000000000000000000" pitchFamily="2" charset="2"/>
              </a:rPr>
              <a:t> </a:t>
            </a:r>
            <a:r>
              <a:rPr lang="da-DK" sz="2000" dirty="0" err="1">
                <a:sym typeface="Wingdings" panose="05000000000000000000" pitchFamily="2" charset="2"/>
              </a:rPr>
              <a:t>dx’es</a:t>
            </a:r>
            <a:r>
              <a:rPr lang="da-DK" sz="2000" dirty="0">
                <a:sym typeface="Wingdings" panose="05000000000000000000" pitchFamily="2" charset="2"/>
              </a:rPr>
              <a:t> </a:t>
            </a:r>
            <a:r>
              <a:rPr lang="da-DK" sz="2000" dirty="0" err="1">
                <a:sym typeface="Wingdings" panose="05000000000000000000" pitchFamily="2" charset="2"/>
              </a:rPr>
              <a:t>emperically</a:t>
            </a:r>
            <a:r>
              <a:rPr lang="da-DK" sz="2000" dirty="0">
                <a:sym typeface="Wingdings" panose="05000000000000000000" pitchFamily="2" charset="2"/>
              </a:rPr>
              <a:t> to find the optimal dx.</a:t>
            </a:r>
            <a:endParaRPr lang="da-DK" sz="2000" dirty="0"/>
          </a:p>
        </p:txBody>
      </p:sp>
    </p:spTree>
    <p:extLst>
      <p:ext uri="{BB962C8B-B14F-4D97-AF65-F5344CB8AC3E}">
        <p14:creationId xmlns:p14="http://schemas.microsoft.com/office/powerpoint/2010/main" val="10790838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3E957A-4B4D-34A9-BF7C-678110935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7030" y="1130788"/>
            <a:ext cx="6215264" cy="56453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534783-59C5-8986-4E4A-74CBC2C24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828" y="1161796"/>
            <a:ext cx="4418611" cy="54052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0AB5B0-85F6-7B63-5F8C-A9E6376BBD7A}"/>
              </a:ext>
            </a:extLst>
          </p:cNvPr>
          <p:cNvSpPr txBox="1"/>
          <p:nvPr/>
        </p:nvSpPr>
        <p:spPr>
          <a:xfrm>
            <a:off x="4337840" y="81907"/>
            <a:ext cx="30868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200" dirty="0" err="1"/>
              <a:t>Example</a:t>
            </a:r>
            <a:r>
              <a:rPr lang="da-DK" sz="3200" dirty="0"/>
              <a:t> in book</a:t>
            </a:r>
          </a:p>
        </p:txBody>
      </p:sp>
    </p:spTree>
    <p:extLst>
      <p:ext uri="{BB962C8B-B14F-4D97-AF65-F5344CB8AC3E}">
        <p14:creationId xmlns:p14="http://schemas.microsoft.com/office/powerpoint/2010/main" val="3123500218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6.0.27"/>
  <p:tag name="AS_OS" val="Unix 6.5.0.1014"/>
  <p:tag name="AS_RELEASE_DATE" val="2023.08.14"/>
  <p:tag name="AS_TITLE" val="Aspose.Slides for .NET Standard 2.0"/>
  <p:tag name="AS_VERSION" val="23.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Aptos Display" panose="0211000402020202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Aptos" panose="0211000402020202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TemplafyTemplateConfiguration><![CDATA[{"elementsMetadata":[],"transformationConfigurations":[],"templateName":"blankpresentation","templateDescription":"","enableDocumentContentUpdater":false,"version":"2.0"}]]></TemplafyTemplateConfiguration>
</file>

<file path=customXml/item2.xml><?xml version="1.0" encoding="utf-8"?>
<TemplafyFormConfiguration><![CDATA[{"formFields":[],"formDataEntries":[]}]]></TemplafyForm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TemplateConfiguration><![CDATA[{"slideVersion":1,"isValidatorEnabled":false,"isLocked":false,"elementsMetadata":[],"slideId":"1054884848216047618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386C9AF7-FC43-4772-BF6D-26FE95C56D62}">
  <ds:schemaRefs/>
</ds:datastoreItem>
</file>

<file path=customXml/itemProps2.xml><?xml version="1.0" encoding="utf-8"?>
<ds:datastoreItem xmlns:ds="http://schemas.openxmlformats.org/officeDocument/2006/customXml" ds:itemID="{C5938109-F486-41EA-929F-D7DF65C5D6B1}">
  <ds:schemaRefs/>
</ds:datastoreItem>
</file>

<file path=customXml/itemProps3.xml><?xml version="1.0" encoding="utf-8"?>
<ds:datastoreItem xmlns:ds="http://schemas.openxmlformats.org/officeDocument/2006/customXml" ds:itemID="{C60B9EDF-596D-4F67-B5E3-411D55B8E8FC}">
  <ds:schemaRefs/>
</ds:datastoreItem>
</file>

<file path=customXml/itemProps4.xml><?xml version="1.0" encoding="utf-8"?>
<ds:datastoreItem xmlns:ds="http://schemas.openxmlformats.org/officeDocument/2006/customXml" ds:itemID="{B69ABF3A-B169-44F9-86AC-4E29FB2A2600}">
  <ds:schemaRefs/>
</ds:datastoreItem>
</file>

<file path=docMetadata/LabelInfo.xml><?xml version="1.0" encoding="utf-8"?>
<clbl:labelList xmlns:clbl="http://schemas.microsoft.com/office/2020/mipLabelMetadata">
  <clbl:label id="{61fd1d36-fecb-47ca-b7d7-d0df0370a198}" enabled="0" method="" siteId="{61fd1d36-fecb-47ca-b7d7-d0df0370a1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364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Wingdings</vt:lpstr>
      <vt:lpstr>Office Theme</vt:lpstr>
      <vt:lpstr>Convergence and stability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2025-12-12T15:04:36Z</dcterms:created>
  <dcterms:modified xsi:type="dcterms:W3CDTF">2026-10-29T07:25:49Z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2024-11-22T08:25:59</vt:lpwstr>
  </property>
  <property fmtid="{D5CDD505-2E9C-101B-9397-08002B2CF9AE}" pid="3" name="TemplafyTenantId">
    <vt:lpwstr>auoffice</vt:lpwstr>
  </property>
  <property fmtid="{D5CDD505-2E9C-101B-9397-08002B2CF9AE}" pid="4" name="TemplafyTemplateId">
    <vt:lpwstr>1054884838842826800</vt:lpwstr>
  </property>
  <property fmtid="{D5CDD505-2E9C-101B-9397-08002B2CF9AE}" pid="5" name="TemplafyUserProfileId">
    <vt:lpwstr>1208448259217163026</vt:lpwstr>
  </property>
  <property fmtid="{D5CDD505-2E9C-101B-9397-08002B2CF9AE}" pid="6" name="TemplafyLanguageCode">
    <vt:lpwstr>da-DK</vt:lpwstr>
  </property>
  <property fmtid="{D5CDD505-2E9C-101B-9397-08002B2CF9AE}" pid="7" name="TemplafyFromBlank">
    <vt:bool>true</vt:bool>
  </property>
</Properties>
</file>