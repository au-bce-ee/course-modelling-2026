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3"/>
  </p:sldMasterIdLst>
  <p:sldIdLst>
    <p:sldId id="263" r:id="rId4"/>
    <p:sldId id="259" r:id="rId5"/>
    <p:sldId id="260" r:id="rId6"/>
    <p:sldId id="262" r:id="rId7"/>
    <p:sldId id="264" r:id="rId8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72D5E3-F39B-4EC6-9BCB-BA9F45C2A470}" v="9" dt="2026-10-05T06:18:18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7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tags" Target="tags/tag1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6" Type="http://schemas.openxmlformats.org/officeDocument/2006/relationships/image" Target="../media/image4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4.png"/><Relationship Id="rId3" Type="http://schemas.openxmlformats.org/officeDocument/2006/relationships/image" Target="../media/image86.png"/><Relationship Id="rId12" Type="http://schemas.openxmlformats.org/officeDocument/2006/relationships/image" Target="../media/image4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72CA-5A71-88DB-B7D4-7519433EE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Methods of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96F04-76A2-CF80-0B72-DF11C3144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From last time: </a:t>
            </a:r>
          </a:p>
          <a:p>
            <a:pPr marL="342900" indent="-342900">
              <a:buAutoNum type="arabicPeriod"/>
            </a:pPr>
            <a:r>
              <a:rPr lang="da-DK" dirty="0" err="1"/>
              <a:t>Choose</a:t>
            </a:r>
            <a:r>
              <a:rPr lang="da-DK" dirty="0"/>
              <a:t> </a:t>
            </a:r>
            <a:r>
              <a:rPr lang="da-DK" dirty="0" err="1"/>
              <a:t>coordinate</a:t>
            </a:r>
            <a:r>
              <a:rPr lang="da-DK" dirty="0"/>
              <a:t> system </a:t>
            </a:r>
            <a:r>
              <a:rPr lang="da-DK" dirty="0" err="1"/>
              <a:t>based</a:t>
            </a:r>
            <a:r>
              <a:rPr lang="da-DK" dirty="0"/>
              <a:t> on </a:t>
            </a:r>
            <a:r>
              <a:rPr lang="da-DK" dirty="0" err="1"/>
              <a:t>geometry</a:t>
            </a:r>
            <a:r>
              <a:rPr lang="da-DK" dirty="0"/>
              <a:t> of </a:t>
            </a:r>
            <a:r>
              <a:rPr lang="da-DK" dirty="0" err="1"/>
              <a:t>your</a:t>
            </a:r>
            <a:r>
              <a:rPr lang="da-DK" dirty="0"/>
              <a:t> model domain</a:t>
            </a:r>
          </a:p>
          <a:p>
            <a:pPr marL="342900" indent="-342900">
              <a:buAutoNum type="arabicPeriod"/>
            </a:pP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assumptions</a:t>
            </a:r>
            <a:r>
              <a:rPr lang="da-DK" dirty="0"/>
              <a:t>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mass</a:t>
            </a:r>
            <a:r>
              <a:rPr lang="da-DK" dirty="0"/>
              <a:t> and </a:t>
            </a:r>
            <a:r>
              <a:rPr lang="da-DK" dirty="0" err="1"/>
              <a:t>energy</a:t>
            </a:r>
            <a:r>
              <a:rPr lang="da-DK" dirty="0"/>
              <a:t> transport (</a:t>
            </a:r>
            <a:r>
              <a:rPr lang="da-DK" dirty="0" err="1"/>
              <a:t>directions</a:t>
            </a:r>
            <a:r>
              <a:rPr lang="da-DK" dirty="0"/>
              <a:t> for </a:t>
            </a:r>
            <a:r>
              <a:rPr lang="da-DK" dirty="0" err="1"/>
              <a:t>different</a:t>
            </a:r>
            <a:r>
              <a:rPr lang="da-DK" dirty="0"/>
              <a:t> modes of transfer)?</a:t>
            </a:r>
          </a:p>
          <a:p>
            <a:pPr marL="342900" indent="-342900">
              <a:buAutoNum type="arabicPeriod"/>
            </a:pPr>
            <a:r>
              <a:rPr lang="da-DK" dirty="0" err="1"/>
              <a:t>Eliminate</a:t>
            </a:r>
            <a:r>
              <a:rPr lang="da-DK" dirty="0"/>
              <a:t> terms </a:t>
            </a:r>
            <a:r>
              <a:rPr lang="da-DK" dirty="0" err="1"/>
              <a:t>starting</a:t>
            </a:r>
            <a:r>
              <a:rPr lang="da-DK" dirty="0"/>
              <a:t> from the PDE </a:t>
            </a:r>
            <a:r>
              <a:rPr lang="da-DK" dirty="0" err="1"/>
              <a:t>GEs</a:t>
            </a:r>
            <a:r>
              <a:rPr lang="da-DK" dirty="0"/>
              <a:t> in the book/slides</a:t>
            </a:r>
          </a:p>
          <a:p>
            <a:pPr marL="342900" indent="-342900">
              <a:buAutoNum type="arabicPeriod"/>
            </a:pPr>
            <a:r>
              <a:rPr lang="da-DK" dirty="0"/>
              <a:t>NEXT STEP: </a:t>
            </a:r>
            <a:r>
              <a:rPr lang="da-DK" dirty="0" err="1"/>
              <a:t>discretize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PDE with </a:t>
            </a:r>
            <a:r>
              <a:rPr lang="da-DK" dirty="0" err="1"/>
              <a:t>method</a:t>
            </a:r>
            <a:r>
              <a:rPr lang="da-DK" dirty="0"/>
              <a:t> of lines (MOL) </a:t>
            </a:r>
          </a:p>
        </p:txBody>
      </p:sp>
    </p:spTree>
    <p:extLst>
      <p:ext uri="{BB962C8B-B14F-4D97-AF65-F5344CB8AC3E}">
        <p14:creationId xmlns:p14="http://schemas.microsoft.com/office/powerpoint/2010/main" val="18320965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9C91-98D0-90AE-1C1F-089549FA7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method</a:t>
            </a:r>
            <a:r>
              <a:rPr lang="da-DK" dirty="0"/>
              <a:t> of lines for </a:t>
            </a:r>
            <a:r>
              <a:rPr lang="da-DK" dirty="0" err="1"/>
              <a:t>solving</a:t>
            </a:r>
            <a:r>
              <a:rPr lang="da-DK" dirty="0"/>
              <a:t> spatial models </a:t>
            </a:r>
            <a:r>
              <a:rPr lang="da-DK" dirty="0" err="1"/>
              <a:t>numerically</a:t>
            </a:r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4CCC6-BC02-6952-3C4D-15974383BFBE}"/>
              </a:ext>
            </a:extLst>
          </p:cNvPr>
          <p:cNvSpPr txBox="1"/>
          <p:nvPr/>
        </p:nvSpPr>
        <p:spPr>
          <a:xfrm>
            <a:off x="2977028" y="1725474"/>
            <a:ext cx="6367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Lets</a:t>
            </a:r>
            <a:r>
              <a:rPr lang="da-DK" dirty="0"/>
              <a:t> </a:t>
            </a:r>
            <a:r>
              <a:rPr lang="da-DK" dirty="0" err="1"/>
              <a:t>simplify</a:t>
            </a:r>
            <a:r>
              <a:rPr lang="da-DK" dirty="0"/>
              <a:t> the </a:t>
            </a:r>
            <a:r>
              <a:rPr lang="da-DK" dirty="0" err="1"/>
              <a:t>advection</a:t>
            </a:r>
            <a:r>
              <a:rPr lang="da-DK" dirty="0"/>
              <a:t>-diffusion-</a:t>
            </a:r>
            <a:r>
              <a:rPr lang="da-DK" dirty="0" err="1"/>
              <a:t>reaction</a:t>
            </a:r>
            <a:r>
              <a:rPr lang="da-DK" dirty="0"/>
              <a:t> to a 1D problem </a:t>
            </a:r>
          </a:p>
          <a:p>
            <a:r>
              <a:rPr lang="da-DK" dirty="0"/>
              <a:t>and </a:t>
            </a:r>
            <a:r>
              <a:rPr lang="da-DK" dirty="0" err="1"/>
              <a:t>assume</a:t>
            </a:r>
            <a:r>
              <a:rPr lang="da-DK" dirty="0"/>
              <a:t> diffusion is the </a:t>
            </a:r>
            <a:r>
              <a:rPr lang="da-DK" dirty="0" err="1"/>
              <a:t>only</a:t>
            </a:r>
            <a:r>
              <a:rPr lang="da-DK" dirty="0"/>
              <a:t> transport </a:t>
            </a:r>
            <a:r>
              <a:rPr lang="da-DK" dirty="0" err="1"/>
              <a:t>phenomena</a:t>
            </a:r>
            <a:r>
              <a:rPr lang="da-DK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D00D9-7C99-8D4D-525F-2E1E4891E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114" y="2499764"/>
            <a:ext cx="3355994" cy="5379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91560A-707A-B41E-4E5B-A72C544976DF}"/>
                  </a:ext>
                </a:extLst>
              </p:cNvPr>
              <p:cNvSpPr txBox="1"/>
              <p:nvPr/>
            </p:nvSpPr>
            <p:spPr>
              <a:xfrm>
                <a:off x="2033726" y="3419558"/>
                <a:ext cx="2934008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91560A-707A-B41E-4E5B-A72C54497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726" y="3419558"/>
                <a:ext cx="2934008" cy="5557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663FDA0-ED6A-1436-B990-4C4638C28D00}"/>
                  </a:ext>
                </a:extLst>
              </p:cNvPr>
              <p:cNvSpPr txBox="1"/>
              <p:nvPr/>
            </p:nvSpPr>
            <p:spPr>
              <a:xfrm>
                <a:off x="2541996" y="4585680"/>
                <a:ext cx="1413399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663FDA0-ED6A-1436-B990-4C4638C28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996" y="4585680"/>
                <a:ext cx="1413399" cy="555793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DADC1CB0-1A73-474E-A01E-A48D7C24CCEF}"/>
              </a:ext>
            </a:extLst>
          </p:cNvPr>
          <p:cNvSpPr txBox="1"/>
          <p:nvPr/>
        </p:nvSpPr>
        <p:spPr>
          <a:xfrm>
            <a:off x="4566631" y="4600601"/>
            <a:ext cx="6163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Ca</a:t>
            </a:r>
            <a:r>
              <a:rPr lang="da-DK" dirty="0"/>
              <a:t> is the dependent </a:t>
            </a:r>
            <a:r>
              <a:rPr lang="da-DK" dirty="0" err="1"/>
              <a:t>state</a:t>
            </a:r>
            <a:r>
              <a:rPr lang="da-DK" dirty="0"/>
              <a:t> variable</a:t>
            </a:r>
          </a:p>
          <a:p>
            <a:r>
              <a:rPr lang="da-DK" dirty="0"/>
              <a:t>t is time variable (independent), </a:t>
            </a:r>
          </a:p>
          <a:p>
            <a:r>
              <a:rPr lang="da-DK" dirty="0"/>
              <a:t>x is spatial variable (independent)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080607-95E5-C65A-3694-6181AC117004}"/>
              </a:ext>
            </a:extLst>
          </p:cNvPr>
          <p:cNvCxnSpPr/>
          <p:nvPr/>
        </p:nvCxnSpPr>
        <p:spPr>
          <a:xfrm>
            <a:off x="3196910" y="3099188"/>
            <a:ext cx="69801" cy="320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715A774-C5D2-326C-776C-4D765C236CB7}"/>
              </a:ext>
            </a:extLst>
          </p:cNvPr>
          <p:cNvCxnSpPr/>
          <p:nvPr/>
        </p:nvCxnSpPr>
        <p:spPr>
          <a:xfrm>
            <a:off x="3266711" y="4132080"/>
            <a:ext cx="90742" cy="300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CF56528-AEA4-B0ED-7E40-F74CB29C3A99}"/>
              </a:ext>
            </a:extLst>
          </p:cNvPr>
          <p:cNvSpPr txBox="1"/>
          <p:nvPr/>
        </p:nvSpPr>
        <p:spPr>
          <a:xfrm>
            <a:off x="3500730" y="3037748"/>
            <a:ext cx="2659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.. </a:t>
            </a:r>
            <a:r>
              <a:rPr lang="da-DK" dirty="0" err="1"/>
              <a:t>transform</a:t>
            </a:r>
            <a:r>
              <a:rPr lang="da-DK" dirty="0"/>
              <a:t> to </a:t>
            </a:r>
            <a:r>
              <a:rPr lang="da-DK" dirty="0" err="1"/>
              <a:t>only</a:t>
            </a:r>
            <a:r>
              <a:rPr lang="da-DK" dirty="0"/>
              <a:t> 1D (x)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ED2922-8FD5-B9DD-7140-42DED348A6B3}"/>
              </a:ext>
            </a:extLst>
          </p:cNvPr>
          <p:cNvSpPr txBox="1"/>
          <p:nvPr/>
        </p:nvSpPr>
        <p:spPr>
          <a:xfrm>
            <a:off x="3637754" y="4088389"/>
            <a:ext cx="342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.. </a:t>
            </a:r>
            <a:r>
              <a:rPr lang="da-DK" dirty="0" err="1"/>
              <a:t>remove</a:t>
            </a:r>
            <a:r>
              <a:rPr lang="da-DK" dirty="0"/>
              <a:t> </a:t>
            </a:r>
            <a:r>
              <a:rPr lang="da-DK" dirty="0" err="1"/>
              <a:t>advection</a:t>
            </a:r>
            <a:r>
              <a:rPr lang="da-DK" dirty="0"/>
              <a:t> and </a:t>
            </a:r>
            <a:r>
              <a:rPr lang="da-DK" dirty="0" err="1"/>
              <a:t>reaction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8759746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19">
            <a:extLst>
              <a:ext uri="{FF2B5EF4-FFF2-40B4-BE49-F238E27FC236}">
                <a16:creationId xmlns:a16="http://schemas.microsoft.com/office/drawing/2014/main" id="{58E6ECF0-0B16-5C23-384F-7483814CECB1}"/>
              </a:ext>
            </a:extLst>
          </p:cNvPr>
          <p:cNvSpPr txBox="1"/>
          <p:nvPr/>
        </p:nvSpPr>
        <p:spPr>
          <a:xfrm>
            <a:off x="1675855" y="440023"/>
            <a:ext cx="94795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 </a:t>
            </a:r>
            <a:r>
              <a:rPr lang="da-DK" dirty="0" err="1"/>
              <a:t>pipe</a:t>
            </a:r>
            <a:r>
              <a:rPr lang="da-DK" dirty="0"/>
              <a:t> is open in </a:t>
            </a:r>
            <a:r>
              <a:rPr lang="da-DK" dirty="0" err="1"/>
              <a:t>one</a:t>
            </a:r>
            <a:r>
              <a:rPr lang="da-DK" dirty="0"/>
              <a:t> end </a:t>
            </a:r>
            <a:r>
              <a:rPr lang="da-DK" dirty="0" err="1"/>
              <a:t>where</a:t>
            </a:r>
            <a:r>
              <a:rPr lang="da-DK" dirty="0"/>
              <a:t> the oxygen </a:t>
            </a:r>
            <a:r>
              <a:rPr lang="da-DK" dirty="0" err="1"/>
              <a:t>concentration</a:t>
            </a:r>
            <a:r>
              <a:rPr lang="da-DK" dirty="0"/>
              <a:t> is </a:t>
            </a:r>
            <a:r>
              <a:rPr lang="da-DK" dirty="0" err="1"/>
              <a:t>equal</a:t>
            </a:r>
            <a:r>
              <a:rPr lang="da-DK" dirty="0"/>
              <a:t> to the </a:t>
            </a:r>
          </a:p>
          <a:p>
            <a:r>
              <a:rPr lang="da-DK" dirty="0"/>
              <a:t>oxygen </a:t>
            </a:r>
            <a:r>
              <a:rPr lang="da-DK" dirty="0" err="1"/>
              <a:t>concentration</a:t>
            </a:r>
            <a:r>
              <a:rPr lang="da-DK" dirty="0"/>
              <a:t> in the air. The oxygen diffuses to the </a:t>
            </a:r>
            <a:r>
              <a:rPr lang="da-DK" dirty="0" err="1"/>
              <a:t>other</a:t>
            </a:r>
            <a:r>
              <a:rPr lang="da-DK" dirty="0"/>
              <a:t> end of the </a:t>
            </a:r>
            <a:r>
              <a:rPr lang="da-DK" dirty="0" err="1"/>
              <a:t>pipe</a:t>
            </a:r>
            <a:r>
              <a:rPr lang="da-DK" dirty="0"/>
              <a:t> </a:t>
            </a:r>
            <a:r>
              <a:rPr lang="da-DK" dirty="0" err="1"/>
              <a:t>where</a:t>
            </a:r>
            <a:r>
              <a:rPr lang="da-DK" dirty="0"/>
              <a:t> </a:t>
            </a:r>
          </a:p>
          <a:p>
            <a:r>
              <a:rPr lang="da-DK" dirty="0"/>
              <a:t>oxygen is </a:t>
            </a:r>
            <a:r>
              <a:rPr lang="da-DK" dirty="0" err="1"/>
              <a:t>instantanuously</a:t>
            </a:r>
            <a:r>
              <a:rPr lang="da-DK" dirty="0"/>
              <a:t> </a:t>
            </a:r>
            <a:r>
              <a:rPr lang="da-DK" dirty="0" err="1"/>
              <a:t>consumed</a:t>
            </a:r>
            <a:r>
              <a:rPr lang="da-DK" dirty="0"/>
              <a:t>, </a:t>
            </a:r>
            <a:r>
              <a:rPr lang="da-DK" dirty="0" err="1"/>
              <a:t>such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the </a:t>
            </a:r>
            <a:r>
              <a:rPr lang="da-DK" dirty="0" err="1"/>
              <a:t>concentration</a:t>
            </a:r>
            <a:r>
              <a:rPr lang="da-DK" dirty="0"/>
              <a:t> is </a:t>
            </a:r>
            <a:r>
              <a:rPr lang="da-DK" dirty="0" err="1"/>
              <a:t>always</a:t>
            </a:r>
            <a:r>
              <a:rPr lang="da-DK" dirty="0"/>
              <a:t> 0 at the right end</a:t>
            </a:r>
          </a:p>
          <a:p>
            <a:r>
              <a:rPr lang="da-DK" dirty="0"/>
              <a:t> </a:t>
            </a:r>
          </a:p>
          <a:p>
            <a:endParaRPr lang="da-DK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11A87C8-3121-7ED0-5CF8-B9D1C549EE68}"/>
              </a:ext>
            </a:extLst>
          </p:cNvPr>
          <p:cNvSpPr txBox="1"/>
          <p:nvPr/>
        </p:nvSpPr>
        <p:spPr>
          <a:xfrm>
            <a:off x="868218" y="4830618"/>
            <a:ext cx="36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Define</a:t>
            </a:r>
            <a:r>
              <a:rPr lang="da-DK" dirty="0"/>
              <a:t> initial and </a:t>
            </a:r>
            <a:r>
              <a:rPr lang="da-DK" dirty="0" err="1"/>
              <a:t>boundary</a:t>
            </a:r>
            <a:r>
              <a:rPr lang="da-DK" dirty="0"/>
              <a:t> </a:t>
            </a:r>
            <a:r>
              <a:rPr lang="da-DK" dirty="0" err="1"/>
              <a:t>values</a:t>
            </a:r>
            <a:r>
              <a:rPr lang="da-DK" dirty="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EDE71D7-1090-9531-882A-6D771BE15232}"/>
                  </a:ext>
                </a:extLst>
              </p:cNvPr>
              <p:cNvSpPr txBox="1"/>
              <p:nvPr/>
            </p:nvSpPr>
            <p:spPr>
              <a:xfrm>
                <a:off x="4728601" y="4733029"/>
                <a:ext cx="1413399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EDE71D7-1090-9531-882A-6D771BE15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601" y="4733029"/>
                <a:ext cx="1413399" cy="5557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TextBox 123">
            <a:extLst>
              <a:ext uri="{FF2B5EF4-FFF2-40B4-BE49-F238E27FC236}">
                <a16:creationId xmlns:a16="http://schemas.microsoft.com/office/drawing/2014/main" id="{43CB7CD1-25F4-69AC-0155-1BE798E48BC2}"/>
              </a:ext>
            </a:extLst>
          </p:cNvPr>
          <p:cNvSpPr txBox="1"/>
          <p:nvPr/>
        </p:nvSpPr>
        <p:spPr>
          <a:xfrm>
            <a:off x="3186660" y="5756476"/>
            <a:ext cx="2181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Needs</a:t>
            </a:r>
            <a:r>
              <a:rPr lang="da-DK" dirty="0"/>
              <a:t> 1 initial </a:t>
            </a:r>
            <a:r>
              <a:rPr lang="da-DK" dirty="0" err="1"/>
              <a:t>value</a:t>
            </a:r>
            <a:endParaRPr lang="da-DK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F049353-1663-5590-7EDE-DAFBE3BEA0E8}"/>
              </a:ext>
            </a:extLst>
          </p:cNvPr>
          <p:cNvSpPr txBox="1"/>
          <p:nvPr/>
        </p:nvSpPr>
        <p:spPr>
          <a:xfrm>
            <a:off x="5499537" y="5761240"/>
            <a:ext cx="269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Needs</a:t>
            </a:r>
            <a:r>
              <a:rPr lang="da-DK" dirty="0"/>
              <a:t> 2 </a:t>
            </a:r>
            <a:r>
              <a:rPr lang="da-DK" dirty="0" err="1"/>
              <a:t>boundary</a:t>
            </a:r>
            <a:r>
              <a:rPr lang="da-DK" dirty="0"/>
              <a:t> </a:t>
            </a:r>
            <a:r>
              <a:rPr lang="da-DK" dirty="0" err="1"/>
              <a:t>values</a:t>
            </a:r>
            <a:endParaRPr lang="da-DK" dirty="0"/>
          </a:p>
        </p:txBody>
      </p:sp>
      <p:pic>
        <p:nvPicPr>
          <p:cNvPr id="49" name="Picture 4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4CEB68A-F891-438C-4798-CE4D9B014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62" y="1861365"/>
            <a:ext cx="9806342" cy="1590517"/>
          </a:xfrm>
          <a:prstGeom prst="rect">
            <a:avLst/>
          </a:prstGeom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9F4E77-F33C-CD9F-7C9A-10E3FFE3E8A2}"/>
              </a:ext>
            </a:extLst>
          </p:cNvPr>
          <p:cNvCxnSpPr/>
          <p:nvPr/>
        </p:nvCxnSpPr>
        <p:spPr>
          <a:xfrm flipH="1">
            <a:off x="4529285" y="5381698"/>
            <a:ext cx="199316" cy="314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85BB7A8-5E1D-135B-F55E-7DEBE1402A2E}"/>
              </a:ext>
            </a:extLst>
          </p:cNvPr>
          <p:cNvCxnSpPr>
            <a:cxnSpLocks/>
          </p:cNvCxnSpPr>
          <p:nvPr/>
        </p:nvCxnSpPr>
        <p:spPr>
          <a:xfrm>
            <a:off x="6142000" y="5381698"/>
            <a:ext cx="273646" cy="374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9BC78E4-8B9F-0E42-8BDF-FA28B327024A}"/>
              </a:ext>
            </a:extLst>
          </p:cNvPr>
          <p:cNvSpPr txBox="1"/>
          <p:nvPr/>
        </p:nvSpPr>
        <p:spPr>
          <a:xfrm>
            <a:off x="8193993" y="3924300"/>
            <a:ext cx="190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C(t, L = 0%)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7C80E-99E2-D3A7-3F87-501C2209FEE4}"/>
              </a:ext>
            </a:extLst>
          </p:cNvPr>
          <p:cNvSpPr txBox="1"/>
          <p:nvPr/>
        </p:nvSpPr>
        <p:spPr>
          <a:xfrm>
            <a:off x="1537948" y="3838434"/>
            <a:ext cx="190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C(t, 0 = 21%)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E99A2-B305-B9C8-06C7-205D17259BF0}"/>
              </a:ext>
            </a:extLst>
          </p:cNvPr>
          <p:cNvSpPr txBox="1"/>
          <p:nvPr/>
        </p:nvSpPr>
        <p:spPr>
          <a:xfrm>
            <a:off x="7941035" y="3476784"/>
            <a:ext cx="190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X = L = 1 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CC012-7439-EAF4-7729-B0F646E9C764}"/>
              </a:ext>
            </a:extLst>
          </p:cNvPr>
          <p:cNvSpPr txBox="1"/>
          <p:nvPr/>
        </p:nvSpPr>
        <p:spPr>
          <a:xfrm>
            <a:off x="1899897" y="3277751"/>
            <a:ext cx="1064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x = 0 m</a:t>
            </a:r>
          </a:p>
        </p:txBody>
      </p:sp>
    </p:spTree>
    <p:extLst>
      <p:ext uri="{BB962C8B-B14F-4D97-AF65-F5344CB8AC3E}">
        <p14:creationId xmlns:p14="http://schemas.microsoft.com/office/powerpoint/2010/main" val="422590672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63EC2-2ED7-CAAC-EEC3-DB73AA3CDA45}"/>
              </a:ext>
            </a:extLst>
          </p:cNvPr>
          <p:cNvSpPr txBox="1"/>
          <p:nvPr/>
        </p:nvSpPr>
        <p:spPr>
          <a:xfrm>
            <a:off x="396240" y="379214"/>
            <a:ext cx="10530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1) </a:t>
            </a:r>
            <a:r>
              <a:rPr lang="da-DK" dirty="0" err="1"/>
              <a:t>Replace</a:t>
            </a:r>
            <a:r>
              <a:rPr lang="da-DK" dirty="0"/>
              <a:t> </a:t>
            </a:r>
            <a:r>
              <a:rPr lang="da-DK" u="sng" dirty="0" err="1"/>
              <a:t>only</a:t>
            </a:r>
            <a:r>
              <a:rPr lang="da-DK" dirty="0"/>
              <a:t> the </a:t>
            </a:r>
            <a:r>
              <a:rPr lang="da-DK" u="sng" dirty="0"/>
              <a:t>spatial derivatives</a:t>
            </a:r>
            <a:r>
              <a:rPr lang="da-DK" dirty="0"/>
              <a:t> with </a:t>
            </a:r>
            <a:r>
              <a:rPr lang="da-DK" dirty="0" err="1"/>
              <a:t>finite</a:t>
            </a:r>
            <a:r>
              <a:rPr lang="da-DK" dirty="0"/>
              <a:t> difference </a:t>
            </a:r>
            <a:r>
              <a:rPr lang="da-DK" dirty="0" err="1"/>
              <a:t>approximations</a:t>
            </a:r>
            <a:r>
              <a:rPr lang="da-DK" dirty="0"/>
              <a:t>! (</a:t>
            </a:r>
            <a:r>
              <a:rPr lang="da-DK" dirty="0" err="1"/>
              <a:t>discretize</a:t>
            </a:r>
            <a:r>
              <a:rPr lang="da-DK" dirty="0"/>
              <a:t> the spatial derivative)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A5900A-3C4E-561C-60C6-CC8F5BE32A75}"/>
                  </a:ext>
                </a:extLst>
              </p:cNvPr>
              <p:cNvSpPr txBox="1"/>
              <p:nvPr/>
            </p:nvSpPr>
            <p:spPr>
              <a:xfrm>
                <a:off x="762273" y="1077257"/>
                <a:ext cx="1464696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A5900A-3C4E-561C-60C6-CC8F5BE32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73" y="1077257"/>
                <a:ext cx="1464696" cy="5557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9F597F-A8D5-0B20-5B4A-A187FB0C5549}"/>
                  </a:ext>
                </a:extLst>
              </p:cNvPr>
              <p:cNvSpPr txBox="1"/>
              <p:nvPr/>
            </p:nvSpPr>
            <p:spPr>
              <a:xfrm>
                <a:off x="3246393" y="1077257"/>
                <a:ext cx="3163174" cy="543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9F597F-A8D5-0B20-5B4A-A187FB0C5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393" y="1077257"/>
                <a:ext cx="3163174" cy="5435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2CEC84-54D8-728E-2A54-A46544096C11}"/>
                  </a:ext>
                </a:extLst>
              </p:cNvPr>
              <p:cNvSpPr txBox="1"/>
              <p:nvPr/>
            </p:nvSpPr>
            <p:spPr>
              <a:xfrm>
                <a:off x="610693" y="1940768"/>
                <a:ext cx="65034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i = </a:t>
                </a:r>
                <a:r>
                  <a:rPr lang="da-DK" dirty="0" err="1"/>
                  <a:t>index</a:t>
                </a:r>
                <a:r>
                  <a:rPr lang="da-DK" dirty="0"/>
                  <a:t> </a:t>
                </a:r>
                <a:r>
                  <a:rPr lang="da-DK" dirty="0" err="1"/>
                  <a:t>specifying</a:t>
                </a:r>
                <a:r>
                  <a:rPr lang="da-DK" dirty="0"/>
                  <a:t> position on x-</a:t>
                </a:r>
                <a:r>
                  <a:rPr lang="da-DK" dirty="0" err="1"/>
                  <a:t>grid</a:t>
                </a:r>
                <a:r>
                  <a:rPr lang="da-DK" dirty="0"/>
                  <a:t>, 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a-DK" dirty="0"/>
                  <a:t> = </a:t>
                </a:r>
                <a:r>
                  <a:rPr lang="da-DK" dirty="0" err="1"/>
                  <a:t>spacing</a:t>
                </a:r>
                <a:r>
                  <a:rPr lang="da-DK" dirty="0"/>
                  <a:t> </a:t>
                </a:r>
                <a:r>
                  <a:rPr lang="da-DK" dirty="0" err="1"/>
                  <a:t>between</a:t>
                </a:r>
                <a:r>
                  <a:rPr lang="da-DK" dirty="0"/>
                  <a:t> </a:t>
                </a:r>
                <a:r>
                  <a:rPr lang="da-DK" dirty="0" err="1"/>
                  <a:t>grid</a:t>
                </a:r>
                <a:r>
                  <a:rPr lang="da-DK" dirty="0"/>
                  <a:t> points (</a:t>
                </a:r>
                <a:r>
                  <a:rPr lang="da-DK" dirty="0" err="1"/>
                  <a:t>assumed</a:t>
                </a:r>
                <a:r>
                  <a:rPr lang="da-DK" dirty="0"/>
                  <a:t> </a:t>
                </a:r>
                <a:r>
                  <a:rPr lang="da-DK" dirty="0" err="1"/>
                  <a:t>constant</a:t>
                </a:r>
                <a:r>
                  <a:rPr lang="da-DK" dirty="0"/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2CEC84-54D8-728E-2A54-A46544096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93" y="1940768"/>
                <a:ext cx="6503447" cy="646331"/>
              </a:xfrm>
              <a:prstGeom prst="rect">
                <a:avLst/>
              </a:prstGeom>
              <a:blipFill>
                <a:blip r:embed="rId8"/>
                <a:stretch>
                  <a:fillRect l="-750" t="-3774" b="-1509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3D393595-1365-6CEE-4B6D-C011AA58DBAE}"/>
              </a:ext>
            </a:extLst>
          </p:cNvPr>
          <p:cNvSpPr txBox="1"/>
          <p:nvPr/>
        </p:nvSpPr>
        <p:spPr>
          <a:xfrm>
            <a:off x="464317" y="2722397"/>
            <a:ext cx="5386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2) </a:t>
            </a:r>
            <a:r>
              <a:rPr lang="da-DK" dirty="0" err="1"/>
              <a:t>discretize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space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n domains  = n +1 nodes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1D5EEA0-222F-2DF0-8D9B-4EB6EF619FE7}"/>
                  </a:ext>
                </a:extLst>
              </p:cNvPr>
              <p:cNvSpPr txBox="1"/>
              <p:nvPr/>
            </p:nvSpPr>
            <p:spPr>
              <a:xfrm>
                <a:off x="6826256" y="841909"/>
                <a:ext cx="4429802" cy="24378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a-DK" b="0" i="1" dirty="0" err="1">
                    <a:solidFill>
                      <a:schemeClr val="accent3"/>
                    </a:solidFill>
                    <a:latin typeface="Cambria Math" panose="02040503050406030204" pitchFamily="18" charset="0"/>
                  </a:rPr>
                  <a:t>Finite</a:t>
                </a:r>
                <a:r>
                  <a:rPr lang="da-DK" b="0" i="1" dirty="0">
                    <a:solidFill>
                      <a:schemeClr val="accent3"/>
                    </a:solidFill>
                    <a:latin typeface="Cambria Math" panose="02040503050406030204" pitchFamily="18" charset="0"/>
                  </a:rPr>
                  <a:t> differences from computer </a:t>
                </a:r>
                <a:r>
                  <a:rPr lang="da-DK" b="0" i="1" dirty="0" err="1">
                    <a:solidFill>
                      <a:schemeClr val="accent3"/>
                    </a:solidFill>
                    <a:latin typeface="Cambria Math" panose="02040503050406030204" pitchFamily="18" charset="0"/>
                  </a:rPr>
                  <a:t>algorithms</a:t>
                </a:r>
                <a:r>
                  <a:rPr lang="da-DK" b="0" i="1" dirty="0">
                    <a:solidFill>
                      <a:schemeClr val="accent3"/>
                    </a:solidFill>
                    <a:latin typeface="Cambria Math" panose="02040503050406030204" pitchFamily="18" charset="0"/>
                  </a:rPr>
                  <a:t>!</a:t>
                </a:r>
              </a:p>
              <a:p>
                <a:r>
                  <a:rPr lang="da-DK" dirty="0"/>
                  <a:t>	</a:t>
                </a:r>
                <a:r>
                  <a:rPr lang="da-DK" sz="1600" dirty="0"/>
                  <a:t>Central difference for 2. </a:t>
                </a:r>
                <a:r>
                  <a:rPr lang="da-DK" sz="1600" dirty="0" err="1"/>
                  <a:t>order</a:t>
                </a:r>
                <a:endParaRPr lang="da-DK" sz="16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da-DK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da-DK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da-DK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da-DK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da-DK" sz="1600" dirty="0"/>
                  <a:t> </a:t>
                </a:r>
              </a:p>
              <a:p>
                <a:pPr algn="ctr"/>
                <a:r>
                  <a:rPr lang="da-DK" sz="1600" dirty="0"/>
                  <a:t>Central difference 1. </a:t>
                </a:r>
                <a:r>
                  <a:rPr lang="da-DK" sz="1600" dirty="0" err="1"/>
                  <a:t>order</a:t>
                </a:r>
                <a:endParaRPr lang="da-DK" sz="16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da-DK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da-DK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a-DK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da-DK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da-DK" sz="1600" dirty="0"/>
                  <a:t> </a:t>
                </a:r>
              </a:p>
              <a:p>
                <a:pPr algn="ctr"/>
                <a:r>
                  <a:rPr lang="da-DK" sz="1600" dirty="0" err="1"/>
                  <a:t>Backward</a:t>
                </a:r>
                <a:r>
                  <a:rPr lang="da-DK" sz="1600" dirty="0"/>
                  <a:t> and forward difference 1. </a:t>
                </a:r>
                <a:r>
                  <a:rPr lang="da-DK" sz="1600" dirty="0" err="1"/>
                  <a:t>order</a:t>
                </a:r>
                <a:endParaRPr lang="da-DK" sz="16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da-DK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da-DK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da-DK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da-DK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da-DK" sz="16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da-DK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da-DK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da-DK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da-DK" dirty="0"/>
              </a:p>
              <a:p>
                <a:pPr algn="ctr"/>
                <a:endParaRPr lang="da-DK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1D5EEA0-222F-2DF0-8D9B-4EB6EF619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256" y="841909"/>
                <a:ext cx="4429802" cy="2437847"/>
              </a:xfrm>
              <a:prstGeom prst="rect">
                <a:avLst/>
              </a:prstGeom>
              <a:blipFill>
                <a:blip r:embed="rId12"/>
                <a:stretch>
                  <a:fillRect l="-3306" t="-3500" r="-275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0BC0465A-74AE-C7ED-DF7F-8872966175BE}"/>
              </a:ext>
            </a:extLst>
          </p:cNvPr>
          <p:cNvSpPr txBox="1"/>
          <p:nvPr/>
        </p:nvSpPr>
        <p:spPr>
          <a:xfrm>
            <a:off x="1497196" y="3100116"/>
            <a:ext cx="3498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Example</a:t>
            </a:r>
            <a:r>
              <a:rPr lang="da-DK" dirty="0"/>
              <a:t> with 4 domains, 5 nodes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03FD50-92A8-63C8-ED4C-3B10FE13D66F}"/>
              </a:ext>
            </a:extLst>
          </p:cNvPr>
          <p:cNvCxnSpPr/>
          <p:nvPr/>
        </p:nvCxnSpPr>
        <p:spPr>
          <a:xfrm>
            <a:off x="2470555" y="1349030"/>
            <a:ext cx="614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98CED3F-90F9-1875-FFB6-535EB8C52425}"/>
              </a:ext>
            </a:extLst>
          </p:cNvPr>
          <p:cNvSpPr/>
          <p:nvPr/>
        </p:nvSpPr>
        <p:spPr>
          <a:xfrm>
            <a:off x="7557708" y="4402404"/>
            <a:ext cx="2672142" cy="106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See </a:t>
            </a:r>
            <a:r>
              <a:rPr lang="da-DK" dirty="0" err="1"/>
              <a:t>Appendix</a:t>
            </a:r>
            <a:r>
              <a:rPr lang="da-DK" dirty="0"/>
              <a:t> F in the book for </a:t>
            </a:r>
            <a:r>
              <a:rPr lang="da-DK" dirty="0" err="1"/>
              <a:t>finite</a:t>
            </a:r>
            <a:r>
              <a:rPr lang="da-DK" dirty="0"/>
              <a:t> difference </a:t>
            </a:r>
            <a:r>
              <a:rPr lang="da-DK" dirty="0" err="1"/>
              <a:t>formulas</a:t>
            </a:r>
            <a:endParaRPr lang="da-DK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96F64A-BFED-CA49-11C1-3B1F39A741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4621" y="3502322"/>
            <a:ext cx="4801270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7118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B57FF6-D043-F0D0-51DE-71D42B7C01E2}"/>
                  </a:ext>
                </a:extLst>
              </p:cNvPr>
              <p:cNvSpPr txBox="1"/>
              <p:nvPr/>
            </p:nvSpPr>
            <p:spPr>
              <a:xfrm>
                <a:off x="7057042" y="2031063"/>
                <a:ext cx="6096000" cy="4664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a-DK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da-DK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,0.25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=0.5</m:t>
                              </m:r>
                            </m:sub>
                          </m:s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=0.25 </m:t>
                              </m:r>
                            </m:sub>
                          </m:s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da-DK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,0.50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=0.75</m:t>
                              </m:r>
                            </m:sub>
                          </m:s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=0.50 </m:t>
                              </m:r>
                            </m:sub>
                          </m:s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=0.25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da-DK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,0.75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</m:s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=0.75 </m:t>
                              </m:r>
                            </m:sub>
                          </m:s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=0.50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a-DK" b="0" dirty="0">
                  <a:ea typeface="Cambria Math" panose="02040503050406030204" pitchFamily="18" charset="0"/>
                </a:endParaRPr>
              </a:p>
              <a:p>
                <a:endParaRPr lang="da-DK" b="0" dirty="0"/>
              </a:p>
              <a:p>
                <a:endParaRPr lang="da-DK" b="0" dirty="0"/>
              </a:p>
              <a:p>
                <a:endParaRPr lang="da-DK" b="0" dirty="0"/>
              </a:p>
              <a:p>
                <a:endParaRPr lang="da-DK" dirty="0"/>
              </a:p>
              <a:p>
                <a:endParaRPr lang="da-DK" dirty="0"/>
              </a:p>
              <a:p>
                <a:r>
                  <a:rPr lang="da-DK" dirty="0"/>
                  <a:t>	</a:t>
                </a:r>
              </a:p>
              <a:p>
                <a:r>
                  <a:rPr lang="da-DK" dirty="0"/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B57FF6-D043-F0D0-51DE-71D42B7C0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042" y="2031063"/>
                <a:ext cx="6096000" cy="46647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6281C70-761B-F838-DF1F-2F12A835DA25}"/>
              </a:ext>
            </a:extLst>
          </p:cNvPr>
          <p:cNvSpPr txBox="1"/>
          <p:nvPr/>
        </p:nvSpPr>
        <p:spPr>
          <a:xfrm>
            <a:off x="4850077" y="3112700"/>
            <a:ext cx="1572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interior</a:t>
            </a:r>
            <a:r>
              <a:rPr lang="da-DK" dirty="0"/>
              <a:t> points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C53E1CB-9CF5-E00B-5E81-8BB6184BBFBB}"/>
              </a:ext>
            </a:extLst>
          </p:cNvPr>
          <p:cNvCxnSpPr/>
          <p:nvPr/>
        </p:nvCxnSpPr>
        <p:spPr>
          <a:xfrm flipV="1">
            <a:off x="6343650" y="2880107"/>
            <a:ext cx="493264" cy="307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8BFAD-B5DE-C07E-AA69-98D014F0E27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422495" y="3297366"/>
            <a:ext cx="5191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FC0F3F-D797-5607-0D72-18E20515504B}"/>
              </a:ext>
            </a:extLst>
          </p:cNvPr>
          <p:cNvCxnSpPr>
            <a:cxnSpLocks/>
          </p:cNvCxnSpPr>
          <p:nvPr/>
        </p:nvCxnSpPr>
        <p:spPr>
          <a:xfrm>
            <a:off x="6384104" y="3482032"/>
            <a:ext cx="557512" cy="298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 descr="A red arrows on a black background&#10;&#10;AI-generated content may be incorrect.">
            <a:extLst>
              <a:ext uri="{FF2B5EF4-FFF2-40B4-BE49-F238E27FC236}">
                <a16:creationId xmlns:a16="http://schemas.microsoft.com/office/drawing/2014/main" id="{D1BDF353-FEEE-AC30-8B91-480C3847B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24" y="2031063"/>
            <a:ext cx="3416564" cy="279587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EFE583-E21E-F5F4-CE8B-ECC83CCE306F}"/>
              </a:ext>
            </a:extLst>
          </p:cNvPr>
          <p:cNvCxnSpPr>
            <a:cxnSpLocks/>
          </p:cNvCxnSpPr>
          <p:nvPr/>
        </p:nvCxnSpPr>
        <p:spPr>
          <a:xfrm>
            <a:off x="10896600" y="1526238"/>
            <a:ext cx="0" cy="1009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C8AA83-C02B-9DD7-4852-4C3EB20E31B4}"/>
              </a:ext>
            </a:extLst>
          </p:cNvPr>
          <p:cNvSpPr txBox="1"/>
          <p:nvPr/>
        </p:nvSpPr>
        <p:spPr>
          <a:xfrm>
            <a:off x="8401050" y="964359"/>
            <a:ext cx="340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Value from </a:t>
            </a:r>
            <a:r>
              <a:rPr lang="da-DK" dirty="0" err="1"/>
              <a:t>boundary</a:t>
            </a:r>
            <a:r>
              <a:rPr lang="da-DK" dirty="0"/>
              <a:t> </a:t>
            </a:r>
            <a:r>
              <a:rPr lang="da-DK" dirty="0" err="1"/>
              <a:t>condition</a:t>
            </a:r>
            <a:r>
              <a:rPr lang="da-DK" dirty="0"/>
              <a:t>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32F36C-4A15-83AE-C684-0A3B562D6583}"/>
              </a:ext>
            </a:extLst>
          </p:cNvPr>
          <p:cNvSpPr txBox="1"/>
          <p:nvPr/>
        </p:nvSpPr>
        <p:spPr>
          <a:xfrm>
            <a:off x="8610600" y="5410200"/>
            <a:ext cx="340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Value from </a:t>
            </a:r>
            <a:r>
              <a:rPr lang="da-DK" dirty="0" err="1"/>
              <a:t>boundary</a:t>
            </a:r>
            <a:r>
              <a:rPr lang="da-DK" dirty="0"/>
              <a:t> </a:t>
            </a:r>
            <a:r>
              <a:rPr lang="da-DK" dirty="0" err="1"/>
              <a:t>condition</a:t>
            </a:r>
            <a:r>
              <a:rPr lang="da-DK" dirty="0"/>
              <a:t>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EE352D-2994-8DEE-7FBE-BA9F4E06FA0F}"/>
              </a:ext>
            </a:extLst>
          </p:cNvPr>
          <p:cNvCxnSpPr>
            <a:cxnSpLocks/>
          </p:cNvCxnSpPr>
          <p:nvPr/>
        </p:nvCxnSpPr>
        <p:spPr>
          <a:xfrm flipH="1" flipV="1">
            <a:off x="9010650" y="4208003"/>
            <a:ext cx="1303942" cy="1202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3CC09DB-2F19-D569-0CEB-C681DE6D6704}"/>
              </a:ext>
            </a:extLst>
          </p:cNvPr>
          <p:cNvSpPr txBox="1"/>
          <p:nvPr/>
        </p:nvSpPr>
        <p:spPr>
          <a:xfrm>
            <a:off x="4108528" y="6061545"/>
            <a:ext cx="531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Initial </a:t>
            </a:r>
            <a:r>
              <a:rPr lang="da-DK" dirty="0" err="1"/>
              <a:t>conditions</a:t>
            </a:r>
            <a:r>
              <a:rPr lang="da-DK" dirty="0"/>
              <a:t> have not </a:t>
            </a:r>
            <a:r>
              <a:rPr lang="da-DK" dirty="0" err="1"/>
              <a:t>been</a:t>
            </a:r>
            <a:r>
              <a:rPr lang="da-DK" dirty="0"/>
              <a:t> </a:t>
            </a:r>
            <a:r>
              <a:rPr lang="da-DK" dirty="0" err="1"/>
              <a:t>specified</a:t>
            </a:r>
            <a:r>
              <a:rPr lang="da-DK" dirty="0"/>
              <a:t> </a:t>
            </a:r>
            <a:r>
              <a:rPr lang="da-DK" dirty="0" err="1"/>
              <a:t>yet</a:t>
            </a:r>
            <a:r>
              <a:rPr lang="da-DK" dirty="0"/>
              <a:t>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59247C-FA95-A21F-BA69-32EB8D42F5D0}"/>
              </a:ext>
            </a:extLst>
          </p:cNvPr>
          <p:cNvSpPr txBox="1"/>
          <p:nvPr/>
        </p:nvSpPr>
        <p:spPr>
          <a:xfrm>
            <a:off x="797586" y="810602"/>
            <a:ext cx="4688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3) Make and ODE for </a:t>
            </a:r>
            <a:r>
              <a:rPr lang="da-DK" sz="2400" dirty="0" err="1"/>
              <a:t>each</a:t>
            </a:r>
            <a:r>
              <a:rPr lang="da-DK" sz="2400" dirty="0"/>
              <a:t> node</a:t>
            </a:r>
          </a:p>
        </p:txBody>
      </p:sp>
    </p:spTree>
    <p:extLst>
      <p:ext uri="{BB962C8B-B14F-4D97-AF65-F5344CB8AC3E}">
        <p14:creationId xmlns:p14="http://schemas.microsoft.com/office/powerpoint/2010/main" val="316469055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Props1.xml><?xml version="1.0" encoding="utf-8"?>
<ds:datastoreItem xmlns:ds="http://schemas.openxmlformats.org/officeDocument/2006/customXml" ds:itemID="{386C9AF7-FC43-4772-BF6D-26FE95C56D62}">
  <ds:schemaRefs/>
</ds:datastoreItem>
</file>

<file path=customXml/itemProps2.xml><?xml version="1.0" encoding="utf-8"?>
<ds:datastoreItem xmlns:ds="http://schemas.openxmlformats.org/officeDocument/2006/customXml" ds:itemID="{C5938109-F486-41EA-929F-D7DF65C5D6B1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Methods of lines</vt:lpstr>
      <vt:lpstr>method of lines for solving spatial models numerically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2025-06-19T08:55:46Z</dcterms:created>
  <dcterms:modified xsi:type="dcterms:W3CDTF">2026-10-05T06:19:17Z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