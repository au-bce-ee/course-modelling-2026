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6" r:id="rId5"/>
    <p:sldId id="259" r:id="rId6"/>
    <p:sldId id="258" r:id="rId7"/>
    <p:sldId id="260" r:id="rId8"/>
    <p:sldId id="265" r:id="rId9"/>
    <p:sldId id="261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EFAE1-AF2F-4836-A4F7-8C6B7B9A91BD}" v="30" dt="2026-10-26T07:41:21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Rask Dalby" userId="12c7c68b-47c4-4858-a883-dbd84be7356f" providerId="ADAL" clId="{E9883B15-7D20-4C63-9A3F-08E95C9A44CC}"/>
    <pc:docChg chg="custSel modSld">
      <pc:chgData name="Frederik Rask Dalby" userId="12c7c68b-47c4-4858-a883-dbd84be7356f" providerId="ADAL" clId="{E9883B15-7D20-4C63-9A3F-08E95C9A44CC}" dt="2026-10-26T12:26:31.220" v="68" actId="478"/>
      <pc:docMkLst>
        <pc:docMk/>
      </pc:docMkLst>
      <pc:sldChg chg="addSp modSp mod">
        <pc:chgData name="Frederik Rask Dalby" userId="12c7c68b-47c4-4858-a883-dbd84be7356f" providerId="ADAL" clId="{E9883B15-7D20-4C63-9A3F-08E95C9A44CC}" dt="2026-10-26T07:35:42.983" v="39" actId="1037"/>
        <pc:sldMkLst>
          <pc:docMk/>
          <pc:sldMk cId="1853752626" sldId="258"/>
        </pc:sldMkLst>
        <pc:spChg chg="add mod">
          <ac:chgData name="Frederik Rask Dalby" userId="12c7c68b-47c4-4858-a883-dbd84be7356f" providerId="ADAL" clId="{E9883B15-7D20-4C63-9A3F-08E95C9A44CC}" dt="2026-10-26T07:35:18.273" v="28" actId="1076"/>
          <ac:spMkLst>
            <pc:docMk/>
            <pc:sldMk cId="1853752626" sldId="258"/>
            <ac:spMk id="3" creationId="{24F2E78B-B295-B47D-9F70-1EDF3555C70F}"/>
          </ac:spMkLst>
        </pc:spChg>
        <pc:spChg chg="add mod">
          <ac:chgData name="Frederik Rask Dalby" userId="12c7c68b-47c4-4858-a883-dbd84be7356f" providerId="ADAL" clId="{E9883B15-7D20-4C63-9A3F-08E95C9A44CC}" dt="2026-10-26T07:35:42.983" v="39" actId="1037"/>
          <ac:spMkLst>
            <pc:docMk/>
            <pc:sldMk cId="1853752626" sldId="258"/>
            <ac:spMk id="4" creationId="{1CC86E3A-A687-6EB6-5577-025E43418F6B}"/>
          </ac:spMkLst>
        </pc:spChg>
      </pc:sldChg>
      <pc:sldChg chg="modSp">
        <pc:chgData name="Frederik Rask Dalby" userId="12c7c68b-47c4-4858-a883-dbd84be7356f" providerId="ADAL" clId="{E9883B15-7D20-4C63-9A3F-08E95C9A44CC}" dt="2026-10-26T07:34:03.053" v="23" actId="20577"/>
        <pc:sldMkLst>
          <pc:docMk/>
          <pc:sldMk cId="2136537479" sldId="259"/>
        </pc:sldMkLst>
        <pc:spChg chg="mod">
          <ac:chgData name="Frederik Rask Dalby" userId="12c7c68b-47c4-4858-a883-dbd84be7356f" providerId="ADAL" clId="{E9883B15-7D20-4C63-9A3F-08E95C9A44CC}" dt="2026-10-26T07:34:03.053" v="23" actId="20577"/>
          <ac:spMkLst>
            <pc:docMk/>
            <pc:sldMk cId="2136537479" sldId="259"/>
            <ac:spMk id="6" creationId="{9708DE9E-A921-BD0E-0284-75053111D0C8}"/>
          </ac:spMkLst>
        </pc:spChg>
      </pc:sldChg>
      <pc:sldChg chg="modSp">
        <pc:chgData name="Frederik Rask Dalby" userId="12c7c68b-47c4-4858-a883-dbd84be7356f" providerId="ADAL" clId="{E9883B15-7D20-4C63-9A3F-08E95C9A44CC}" dt="2026-10-26T07:37:46.901" v="47" actId="20577"/>
        <pc:sldMkLst>
          <pc:docMk/>
          <pc:sldMk cId="427463947" sldId="260"/>
        </pc:sldMkLst>
        <pc:spChg chg="mod">
          <ac:chgData name="Frederik Rask Dalby" userId="12c7c68b-47c4-4858-a883-dbd84be7356f" providerId="ADAL" clId="{E9883B15-7D20-4C63-9A3F-08E95C9A44CC}" dt="2026-10-26T07:37:46.901" v="47" actId="20577"/>
          <ac:spMkLst>
            <pc:docMk/>
            <pc:sldMk cId="427463947" sldId="260"/>
            <ac:spMk id="15" creationId="{1DCB7A9D-B72B-FA24-0868-B5B26A3D99D3}"/>
          </ac:spMkLst>
        </pc:spChg>
        <pc:spChg chg="mod">
          <ac:chgData name="Frederik Rask Dalby" userId="12c7c68b-47c4-4858-a883-dbd84be7356f" providerId="ADAL" clId="{E9883B15-7D20-4C63-9A3F-08E95C9A44CC}" dt="2026-10-26T07:37:43.311" v="46" actId="20577"/>
          <ac:spMkLst>
            <pc:docMk/>
            <pc:sldMk cId="427463947" sldId="260"/>
            <ac:spMk id="39" creationId="{C8DAD97B-56D0-5C52-2C86-57B0B5E5E86F}"/>
          </ac:spMkLst>
        </pc:spChg>
      </pc:sldChg>
      <pc:sldChg chg="addSp modSp mod">
        <pc:chgData name="Frederik Rask Dalby" userId="12c7c68b-47c4-4858-a883-dbd84be7356f" providerId="ADAL" clId="{E9883B15-7D20-4C63-9A3F-08E95C9A44CC}" dt="2026-10-26T07:41:30.177" v="60" actId="1037"/>
        <pc:sldMkLst>
          <pc:docMk/>
          <pc:sldMk cId="2487250021" sldId="261"/>
        </pc:sldMkLst>
        <pc:spChg chg="add mod">
          <ac:chgData name="Frederik Rask Dalby" userId="12c7c68b-47c4-4858-a883-dbd84be7356f" providerId="ADAL" clId="{E9883B15-7D20-4C63-9A3F-08E95C9A44CC}" dt="2026-10-26T07:41:07.989" v="51" actId="1076"/>
          <ac:spMkLst>
            <pc:docMk/>
            <pc:sldMk cId="2487250021" sldId="261"/>
            <ac:spMk id="3" creationId="{063322A6-2E3A-06FC-8657-A71886F884C1}"/>
          </ac:spMkLst>
        </pc:spChg>
        <pc:spChg chg="add mod">
          <ac:chgData name="Frederik Rask Dalby" userId="12c7c68b-47c4-4858-a883-dbd84be7356f" providerId="ADAL" clId="{E9883B15-7D20-4C63-9A3F-08E95C9A44CC}" dt="2026-10-26T07:41:17.435" v="53" actId="1076"/>
          <ac:spMkLst>
            <pc:docMk/>
            <pc:sldMk cId="2487250021" sldId="261"/>
            <ac:spMk id="6" creationId="{D6CF3F9F-4E67-E60F-5E75-DDB88AA7A153}"/>
          </ac:spMkLst>
        </pc:spChg>
        <pc:spChg chg="add mod">
          <ac:chgData name="Frederik Rask Dalby" userId="12c7c68b-47c4-4858-a883-dbd84be7356f" providerId="ADAL" clId="{E9883B15-7D20-4C63-9A3F-08E95C9A44CC}" dt="2026-10-26T07:41:30.177" v="60" actId="1037"/>
          <ac:spMkLst>
            <pc:docMk/>
            <pc:sldMk cId="2487250021" sldId="261"/>
            <ac:spMk id="7" creationId="{E07C7248-9A8C-5630-B229-26F029EF70AA}"/>
          </ac:spMkLst>
        </pc:spChg>
      </pc:sldChg>
      <pc:sldChg chg="addSp delSp modSp mod">
        <pc:chgData name="Frederik Rask Dalby" userId="12c7c68b-47c4-4858-a883-dbd84be7356f" providerId="ADAL" clId="{E9883B15-7D20-4C63-9A3F-08E95C9A44CC}" dt="2026-10-26T12:26:31.220" v="68" actId="478"/>
        <pc:sldMkLst>
          <pc:docMk/>
          <pc:sldMk cId="379251194" sldId="264"/>
        </pc:sldMkLst>
        <pc:spChg chg="add mod">
          <ac:chgData name="Frederik Rask Dalby" userId="12c7c68b-47c4-4858-a883-dbd84be7356f" providerId="ADAL" clId="{E9883B15-7D20-4C63-9A3F-08E95C9A44CC}" dt="2026-10-26T12:26:14.861" v="65" actId="208"/>
          <ac:spMkLst>
            <pc:docMk/>
            <pc:sldMk cId="379251194" sldId="264"/>
            <ac:spMk id="6" creationId="{461E41A9-83A8-6999-175A-AF534B9090FD}"/>
          </ac:spMkLst>
        </pc:spChg>
        <pc:cxnChg chg="add del mod">
          <ac:chgData name="Frederik Rask Dalby" userId="12c7c68b-47c4-4858-a883-dbd84be7356f" providerId="ADAL" clId="{E9883B15-7D20-4C63-9A3F-08E95C9A44CC}" dt="2026-10-26T12:26:31.220" v="68" actId="478"/>
          <ac:cxnSpMkLst>
            <pc:docMk/>
            <pc:sldMk cId="379251194" sldId="264"/>
            <ac:cxnSpMk id="4" creationId="{D6356266-B266-A8C2-44E8-294BBD2D9E74}"/>
          </ac:cxnSpMkLst>
        </pc:cxnChg>
      </pc:sldChg>
      <pc:sldChg chg="delSp mod">
        <pc:chgData name="Frederik Rask Dalby" userId="12c7c68b-47c4-4858-a883-dbd84be7356f" providerId="ADAL" clId="{E9883B15-7D20-4C63-9A3F-08E95C9A44CC}" dt="2026-10-26T07:25:33.422" v="1" actId="478"/>
        <pc:sldMkLst>
          <pc:docMk/>
          <pc:sldMk cId="528030942" sldId="266"/>
        </pc:sldMkLst>
        <pc:spChg chg="del">
          <ac:chgData name="Frederik Rask Dalby" userId="12c7c68b-47c4-4858-a883-dbd84be7356f" providerId="ADAL" clId="{E9883B15-7D20-4C63-9A3F-08E95C9A44CC}" dt="2026-10-26T07:25:30.992" v="0" actId="478"/>
          <ac:spMkLst>
            <pc:docMk/>
            <pc:sldMk cId="528030942" sldId="266"/>
            <ac:spMk id="7" creationId="{5C648292-6ABE-C761-E48D-89F6AFEBCA82}"/>
          </ac:spMkLst>
        </pc:spChg>
        <pc:cxnChg chg="del">
          <ac:chgData name="Frederik Rask Dalby" userId="12c7c68b-47c4-4858-a883-dbd84be7356f" providerId="ADAL" clId="{E9883B15-7D20-4C63-9A3F-08E95C9A44CC}" dt="2026-10-26T07:25:33.422" v="1" actId="478"/>
          <ac:cxnSpMkLst>
            <pc:docMk/>
            <pc:sldMk cId="528030942" sldId="266"/>
            <ac:cxnSpMk id="6" creationId="{85419CB7-452C-79BD-7966-75034A9E823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25863-7A72-445A-ACAB-33D345BAC23C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6CECB-9FE9-4491-920A-9984C327CBF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747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A) 4 species * 11 positions = 44 </a:t>
            </a:r>
            <a:r>
              <a:rPr lang="da-DK" dirty="0" err="1"/>
              <a:t>rows</a:t>
            </a:r>
            <a:r>
              <a:rPr lang="da-DK" dirty="0"/>
              <a:t> in </a:t>
            </a:r>
            <a:r>
              <a:rPr lang="da-DK" dirty="0" err="1"/>
              <a:t>sol.y</a:t>
            </a:r>
            <a:r>
              <a:rPr lang="da-DK" dirty="0"/>
              <a:t>, </a:t>
            </a:r>
            <a:r>
              <a:rPr lang="da-DK" dirty="0" err="1"/>
              <a:t>linspace</a:t>
            </a:r>
            <a:r>
              <a:rPr lang="da-DK" dirty="0"/>
              <a:t> </a:t>
            </a:r>
            <a:r>
              <a:rPr lang="da-DK" dirty="0" err="1"/>
              <a:t>says</a:t>
            </a:r>
            <a:r>
              <a:rPr lang="da-DK" dirty="0"/>
              <a:t> 50 time points, so 50 columns in </a:t>
            </a:r>
            <a:r>
              <a:rPr lang="da-DK" dirty="0" err="1"/>
              <a:t>sol.y</a:t>
            </a:r>
            <a:r>
              <a:rPr lang="da-DK" dirty="0"/>
              <a:t>. B) species 2 at position </a:t>
            </a:r>
            <a:r>
              <a:rPr lang="da-DK" dirty="0" err="1"/>
              <a:t>around</a:t>
            </a:r>
            <a:r>
              <a:rPr lang="da-DK" dirty="0"/>
              <a:t> 0.5 m and </a:t>
            </a:r>
            <a:r>
              <a:rPr lang="da-DK" dirty="0" err="1"/>
              <a:t>after</a:t>
            </a:r>
            <a:r>
              <a:rPr lang="da-DK" dirty="0"/>
              <a:t> ca. 50 </a:t>
            </a:r>
            <a:r>
              <a:rPr lang="da-DK" dirty="0" err="1"/>
              <a:t>seconds</a:t>
            </a:r>
            <a:r>
              <a:rPr lang="da-DK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6CECB-9FE9-4491-920A-9984C327CBFE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84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E1E7-19AB-F14B-AB89-99F592A0F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46A0D-AF60-4D15-F912-B78D9DB07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37AF-A379-7EE6-CD97-F77B6934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E0C08-BC6C-1444-AA13-6BD9F173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1C09B-79A0-80DA-DC50-4ACA87EA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154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3892-E36D-BF2C-BB42-1E7A3F30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EF32-6E97-8056-B137-06815C461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00D29-387A-F704-E403-8783698D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A6E9-93D1-38C9-DCBA-74091913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A2F5-90FF-8CA4-2178-F4C3554E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9729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449C-DB34-926F-1E3F-F49149DA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06F8F-5844-0BAA-D762-E3C178EB1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515B-4612-5303-89DF-2C0E9C0D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75486-855D-A7D4-5B85-43E1EEA6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3E8E4-879C-0B70-1452-86CACF17C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749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3BB6-125D-7EF1-921C-4AD27AE3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E767-7F13-639E-8503-05E55D250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5B798-0DA6-F72D-DB09-8318BC7B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913D9-C40B-28DC-BADC-2285BA98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0D9C8-5C0A-8E8E-E17D-23BA6B83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74228-9227-9567-3D6C-38551320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484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0ACA-7385-E716-3D82-5D0A046C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19F4-93FD-C4F0-B63D-2EF7F2DC6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2F612-D893-9568-860B-53EB8EC93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D29403-F559-5D1F-B660-DEEC0B037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FE0168-BD69-8199-FFD1-3A8D26D4A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CDD56-87A8-74FE-F1CD-AD0C8005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452F6-5065-C057-4017-E00298C4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A0E97-A682-33B7-D1CC-EDE975E5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581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0F78-8364-E5CA-D1E8-108B625B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209F5-B6A2-38ED-203C-B059691A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FA624-E581-B7D5-5385-5231EE31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11D9-95BF-5422-11CB-71A7A541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262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CFCA6-8934-620D-50AA-0490CB09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733A1-9302-B3EA-D1E7-E962997B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55D6-CFF9-EC8B-9988-DC9EBD57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718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692C-7665-63AE-F6C1-18158570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80CB5-0B9E-528B-63C9-5946A2516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298CF-E98B-1F8B-219D-E50440279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9AC57-DE1B-9F7A-56EA-E2B274A5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41E1E-7803-4438-2905-EB662997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8036C-0A9A-EAF3-7BCE-64D4BD2B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659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E345-5625-C3EB-FCB2-B0669340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3EE8C-F3E7-6EB6-6FC5-053B37E0B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02759-5D44-E4DD-7587-8F381FE4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7B778-A460-E915-EDF3-FC203953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A75C7-67D4-82DB-434C-89BD997D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28C4B-197B-7DE7-E7BE-2261A41C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513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8D93-1413-E351-8C76-09E1A114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544AC-E167-C3A2-EA22-F4E9A3A7E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56102-D352-4952-B36E-A8C87E6C0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7452-9C10-CF30-3B29-6BD07CB2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F48B9-8745-6BBC-3E95-A42E5041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197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727568-769B-8BC9-DBBE-431A0936A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DB639-348E-838A-B02B-0E8EDED70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B3D07-A3F8-8D1C-F6BC-F3BCCFA6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99B1-9860-2DD4-6067-D8F9A4CA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E0D0A-7EBD-D8E1-D69F-ECF40190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548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9207B-AF25-957E-84D6-7C6ED66B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CB4D6-5C74-9786-E326-FE1EF7580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6E470-FEF8-599A-CF29-0D42E5712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C011F-2010-4416-8ED1-946BB74014D9}" type="datetimeFigureOut">
              <a:rPr lang="da-DK" smtClean="0"/>
              <a:t>26-10-2026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18951-4E35-902F-FEED-FF805D055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F415E-04D0-CDFB-36D6-5357D68A6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FA942-D22D-4825-A967-FEC12876B4E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426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4.png"/><Relationship Id="rId7" Type="http://schemas.openxmlformats.org/officeDocument/2006/relationships/image" Target="../media/image52.png"/><Relationship Id="rId12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55.png"/><Relationship Id="rId5" Type="http://schemas.openxmlformats.org/officeDocument/2006/relationships/image" Target="../media/image410.png"/><Relationship Id="rId10" Type="http://schemas.openxmlformats.org/officeDocument/2006/relationships/image" Target="../media/image54.png"/><Relationship Id="rId4" Type="http://schemas.openxmlformats.org/officeDocument/2006/relationships/image" Target="../media/image310.png"/><Relationship Id="rId9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70.png"/><Relationship Id="rId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FDA7-BD53-73B3-1FB4-427F2F8DBB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Coupling</a:t>
            </a:r>
            <a:r>
              <a:rPr lang="da-DK" dirty="0"/>
              <a:t> </a:t>
            </a:r>
            <a:r>
              <a:rPr lang="da-DK" dirty="0" err="1"/>
              <a:t>mass</a:t>
            </a:r>
            <a:r>
              <a:rPr lang="da-DK" dirty="0"/>
              <a:t> and </a:t>
            </a:r>
            <a:r>
              <a:rPr lang="da-DK" dirty="0" err="1"/>
              <a:t>energy</a:t>
            </a:r>
            <a:r>
              <a:rPr lang="da-DK" dirty="0"/>
              <a:t> balance</a:t>
            </a:r>
          </a:p>
        </p:txBody>
      </p:sp>
    </p:spTree>
    <p:extLst>
      <p:ext uri="{BB962C8B-B14F-4D97-AF65-F5344CB8AC3E}">
        <p14:creationId xmlns:p14="http://schemas.microsoft.com/office/powerpoint/2010/main" val="298608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900F5-4015-B3FA-EB3E-7021845E3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23" y="707305"/>
            <a:ext cx="10607959" cy="51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8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B66B9B-36E7-366E-FBEA-E4C1BD70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25" y="540419"/>
            <a:ext cx="11107875" cy="61209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1E41A9-83A8-6999-175A-AF534B9090FD}"/>
              </a:ext>
            </a:extLst>
          </p:cNvPr>
          <p:cNvSpPr/>
          <p:nvPr/>
        </p:nvSpPr>
        <p:spPr>
          <a:xfrm>
            <a:off x="2128058" y="1911927"/>
            <a:ext cx="199506" cy="2493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925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1656FB-388A-604B-4D3C-8CF79574EF6B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374650"/>
                <a:ext cx="10515600" cy="2028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released</a:t>
                </a:r>
                <a:r>
                  <a:rPr lang="da-DK" dirty="0"/>
                  <a:t> (</a:t>
                </a:r>
                <a:r>
                  <a:rPr lang="da-DK" dirty="0" err="1"/>
                  <a:t>exothermic</a:t>
                </a:r>
                <a:r>
                  <a:rPr lang="da-DK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absorbed</a:t>
                </a:r>
                <a:r>
                  <a:rPr lang="da-DK" dirty="0"/>
                  <a:t> (</a:t>
                </a:r>
                <a:r>
                  <a:rPr lang="da-DK" dirty="0" err="1"/>
                  <a:t>endothermic</a:t>
                </a:r>
                <a:r>
                  <a:rPr lang="da-DK" dirty="0"/>
                  <a:t>)</a:t>
                </a:r>
              </a:p>
              <a:p>
                <a:endParaRPr lang="da-DK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da-DK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1656FB-388A-604B-4D3C-8CF79574EF6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4650"/>
                <a:ext cx="10515600" cy="2028569"/>
              </a:xfrm>
              <a:prstGeom prst="rect">
                <a:avLst/>
              </a:prstGeom>
              <a:blipFill>
                <a:blip r:embed="rId2"/>
                <a:stretch>
                  <a:fillRect t="-510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6649997-4A5D-ED1D-06A5-8F8EB8CEDE49}"/>
              </a:ext>
            </a:extLst>
          </p:cNvPr>
          <p:cNvSpPr txBox="1"/>
          <p:nvPr/>
        </p:nvSpPr>
        <p:spPr>
          <a:xfrm>
            <a:off x="1624584" y="3685340"/>
            <a:ext cx="9112944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/>
              <a:t>			</a:t>
            </a:r>
            <a:r>
              <a:rPr lang="da-DK" sz="2000" dirty="0" err="1"/>
              <a:t>Discuss</a:t>
            </a:r>
            <a:r>
              <a:rPr lang="da-DK" sz="2000" dirty="0"/>
              <a:t> with classmate</a:t>
            </a:r>
          </a:p>
          <a:p>
            <a:endParaRPr lang="da-DK" sz="2000" dirty="0"/>
          </a:p>
          <a:p>
            <a:r>
              <a:rPr lang="da-DK" i="1" dirty="0"/>
              <a:t>How </a:t>
            </a:r>
            <a:r>
              <a:rPr lang="da-DK" i="1" dirty="0" err="1"/>
              <a:t>does</a:t>
            </a:r>
            <a:r>
              <a:rPr lang="da-DK" i="1" dirty="0"/>
              <a:t> an irreversible </a:t>
            </a:r>
            <a:r>
              <a:rPr lang="da-DK" i="1" dirty="0" err="1"/>
              <a:t>exothermic</a:t>
            </a:r>
            <a:r>
              <a:rPr lang="da-DK" i="1" dirty="0"/>
              <a:t> </a:t>
            </a:r>
            <a:r>
              <a:rPr lang="da-DK" i="1" dirty="0" err="1"/>
              <a:t>reaction</a:t>
            </a:r>
            <a:r>
              <a:rPr lang="da-DK" i="1" dirty="0"/>
              <a:t> </a:t>
            </a:r>
            <a:r>
              <a:rPr lang="da-DK" i="1" dirty="0" err="1"/>
              <a:t>affect</a:t>
            </a:r>
            <a:r>
              <a:rPr lang="da-DK" i="1" dirty="0"/>
              <a:t> </a:t>
            </a:r>
            <a:r>
              <a:rPr lang="da-DK" i="1" dirty="0" err="1"/>
              <a:t>q</a:t>
            </a:r>
            <a:r>
              <a:rPr lang="da-DK" i="1" baseline="-25000" dirty="0" err="1"/>
              <a:t>rxn</a:t>
            </a:r>
            <a:r>
              <a:rPr lang="da-DK" i="1" dirty="0"/>
              <a:t> and r and the system as a </a:t>
            </a:r>
            <a:r>
              <a:rPr lang="da-DK" i="1" dirty="0" err="1"/>
              <a:t>whole</a:t>
            </a:r>
            <a:r>
              <a:rPr lang="da-DK" i="1" dirty="0"/>
              <a:t>?</a:t>
            </a:r>
          </a:p>
          <a:p>
            <a:r>
              <a:rPr lang="da-DK" i="1" dirty="0"/>
              <a:t>How </a:t>
            </a:r>
            <a:r>
              <a:rPr lang="da-DK" i="1" dirty="0" err="1"/>
              <a:t>does</a:t>
            </a:r>
            <a:r>
              <a:rPr lang="da-DK" i="1" dirty="0"/>
              <a:t> an irreversible </a:t>
            </a:r>
            <a:r>
              <a:rPr lang="da-DK" i="1" dirty="0" err="1"/>
              <a:t>endothermic</a:t>
            </a:r>
            <a:r>
              <a:rPr lang="da-DK" i="1" dirty="0"/>
              <a:t> </a:t>
            </a:r>
            <a:r>
              <a:rPr lang="da-DK" i="1" dirty="0" err="1"/>
              <a:t>reaction</a:t>
            </a:r>
            <a:r>
              <a:rPr lang="da-DK" i="1" dirty="0"/>
              <a:t> </a:t>
            </a:r>
            <a:r>
              <a:rPr lang="da-DK" i="1" dirty="0" err="1"/>
              <a:t>affect</a:t>
            </a:r>
            <a:r>
              <a:rPr lang="da-DK" i="1" dirty="0"/>
              <a:t> </a:t>
            </a:r>
            <a:r>
              <a:rPr lang="da-DK" i="1" dirty="0" err="1"/>
              <a:t>q</a:t>
            </a:r>
            <a:r>
              <a:rPr lang="da-DK" i="1" baseline="-25000" dirty="0" err="1"/>
              <a:t>rxn</a:t>
            </a:r>
            <a:r>
              <a:rPr lang="da-DK" i="1" dirty="0"/>
              <a:t> and r and the system as a </a:t>
            </a:r>
            <a:r>
              <a:rPr lang="da-DK" i="1" dirty="0" err="1"/>
              <a:t>whole</a:t>
            </a:r>
            <a:r>
              <a:rPr lang="da-DK" i="1" dirty="0"/>
              <a:t>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2803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50D94A-01D8-0649-1A5D-C5461DDE845F}"/>
              </a:ext>
            </a:extLst>
          </p:cNvPr>
          <p:cNvSpPr txBox="1"/>
          <p:nvPr/>
        </p:nvSpPr>
        <p:spPr>
          <a:xfrm>
            <a:off x="752912" y="262185"/>
            <a:ext cx="11271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Batch </a:t>
            </a:r>
            <a:r>
              <a:rPr lang="da-DK" dirty="0" err="1"/>
              <a:t>reactor</a:t>
            </a:r>
            <a:r>
              <a:rPr lang="da-DK" dirty="0"/>
              <a:t>,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</a:t>
            </a:r>
            <a:r>
              <a:rPr lang="da-DK" dirty="0" err="1"/>
              <a:t>reaction</a:t>
            </a:r>
            <a:r>
              <a:rPr lang="da-DK" dirty="0"/>
              <a:t>, </a:t>
            </a:r>
            <a:r>
              <a:rPr lang="da-DK" dirty="0" err="1"/>
              <a:t>tracing</a:t>
            </a:r>
            <a:r>
              <a:rPr lang="da-DK" dirty="0"/>
              <a:t>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reactant</a:t>
            </a:r>
            <a:r>
              <a:rPr lang="da-DK" dirty="0"/>
              <a:t> A, </a:t>
            </a:r>
            <a:r>
              <a:rPr lang="da-DK" dirty="0" err="1"/>
              <a:t>where</a:t>
            </a:r>
            <a:r>
              <a:rPr lang="da-DK" dirty="0"/>
              <a:t> A </a:t>
            </a:r>
            <a:r>
              <a:rPr lang="da-DK" dirty="0">
                <a:sym typeface="Wingdings" panose="05000000000000000000" pitchFamily="2" charset="2"/>
              </a:rPr>
              <a:t> B and the </a:t>
            </a:r>
            <a:r>
              <a:rPr lang="da-DK" dirty="0" err="1">
                <a:sym typeface="Wingdings" panose="05000000000000000000" pitchFamily="2" charset="2"/>
              </a:rPr>
              <a:t>reaction</a:t>
            </a:r>
            <a:r>
              <a:rPr lang="da-DK" dirty="0">
                <a:sym typeface="Wingdings" panose="05000000000000000000" pitchFamily="2" charset="2"/>
              </a:rPr>
              <a:t> generates </a:t>
            </a:r>
            <a:r>
              <a:rPr lang="da-DK" dirty="0" err="1">
                <a:sym typeface="Wingdings" panose="05000000000000000000" pitchFamily="2" charset="2"/>
              </a:rPr>
              <a:t>energy</a:t>
            </a:r>
            <a:r>
              <a:rPr lang="da-DK" dirty="0">
                <a:sym typeface="Wingdings" panose="05000000000000000000" pitchFamily="2" charset="2"/>
              </a:rPr>
              <a:t> (</a:t>
            </a:r>
            <a:r>
              <a:rPr lang="da-DK" dirty="0" err="1">
                <a:sym typeface="Wingdings" panose="05000000000000000000" pitchFamily="2" charset="2"/>
              </a:rPr>
              <a:t>exothermic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reaction</a:t>
            </a:r>
            <a:r>
              <a:rPr lang="da-DK" dirty="0">
                <a:sym typeface="Wingdings" panose="05000000000000000000" pitchFamily="2" charset="2"/>
              </a:rPr>
              <a:t>!)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8DE9E-A921-BD0E-0284-75053111D0C8}"/>
                  </a:ext>
                </a:extLst>
              </p:cNvPr>
              <p:cNvSpPr txBox="1"/>
              <p:nvPr/>
            </p:nvSpPr>
            <p:spPr>
              <a:xfrm>
                <a:off x="4168885" y="1711922"/>
                <a:ext cx="9998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8DE9E-A921-BD0E-0284-75053111D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85" y="1711922"/>
                <a:ext cx="999889" cy="276999"/>
              </a:xfrm>
              <a:prstGeom prst="rect">
                <a:avLst/>
              </a:prstGeom>
              <a:blipFill>
                <a:blip r:embed="rId2"/>
                <a:stretch>
                  <a:fillRect l="-3659" r="-1829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0E2F22C-E7D3-2646-6AC6-DB9A7F0DAFAF}"/>
              </a:ext>
            </a:extLst>
          </p:cNvPr>
          <p:cNvSpPr txBox="1"/>
          <p:nvPr/>
        </p:nvSpPr>
        <p:spPr>
          <a:xfrm>
            <a:off x="752912" y="820046"/>
            <a:ext cx="3831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mass</a:t>
            </a:r>
            <a:r>
              <a:rPr lang="da-DK" dirty="0"/>
              <a:t> balance of A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2A8C24-AA81-6A5E-6117-6FCC267AC0ED}"/>
                  </a:ext>
                </a:extLst>
              </p:cNvPr>
              <p:cNvSpPr txBox="1"/>
              <p:nvPr/>
            </p:nvSpPr>
            <p:spPr>
              <a:xfrm>
                <a:off x="4101771" y="2640154"/>
                <a:ext cx="1210203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𝑑𝑀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𝑟𝑉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2A8C24-AA81-6A5E-6117-6FCC267AC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771" y="2640154"/>
                <a:ext cx="1210203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05578A2-2A93-7449-1D5D-819D3BFB973A}"/>
              </a:ext>
            </a:extLst>
          </p:cNvPr>
          <p:cNvGrpSpPr/>
          <p:nvPr/>
        </p:nvGrpSpPr>
        <p:grpSpPr>
          <a:xfrm>
            <a:off x="4140137" y="1116728"/>
            <a:ext cx="4324389" cy="451116"/>
            <a:chOff x="3283365" y="786268"/>
            <a:chExt cx="4324389" cy="4511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12468C-23D6-72E7-10D1-4EEC34CC0D7D}"/>
                    </a:ext>
                  </a:extLst>
                </p:cNvPr>
                <p:cNvSpPr txBox="1"/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𝑐𝑜𝑛𝑠𝑢𝑚𝑒𝑑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12468C-23D6-72E7-10D1-4EEC34CC0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23" t="-4444" r="-845" b="-35556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5EBC799-0945-60AE-904E-56F9BF7F7CDC}"/>
                </a:ext>
              </a:extLst>
            </p:cNvPr>
            <p:cNvCxnSpPr/>
            <p:nvPr/>
          </p:nvCxnSpPr>
          <p:spPr>
            <a:xfrm flipH="1">
              <a:off x="3822192" y="786268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70A4A4-79AB-727E-950A-5E8BEBD04300}"/>
                </a:ext>
              </a:extLst>
            </p:cNvPr>
            <p:cNvCxnSpPr/>
            <p:nvPr/>
          </p:nvCxnSpPr>
          <p:spPr>
            <a:xfrm flipH="1">
              <a:off x="4439648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776DEBE-AF97-78BC-9BBB-5F774B179DA5}"/>
                </a:ext>
              </a:extLst>
            </p:cNvPr>
            <p:cNvCxnSpPr/>
            <p:nvPr/>
          </p:nvCxnSpPr>
          <p:spPr>
            <a:xfrm flipH="1">
              <a:off x="5356771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D9709-30A7-E813-19E8-7FDF0AD569CF}"/>
                  </a:ext>
                </a:extLst>
              </p:cNvPr>
              <p:cNvSpPr txBox="1"/>
              <p:nvPr/>
            </p:nvSpPr>
            <p:spPr>
              <a:xfrm>
                <a:off x="7468564" y="1657610"/>
                <a:ext cx="3264099" cy="485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r>
                  <a:rPr lang="da-DK" dirty="0"/>
                  <a:t>, 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: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ED9709-30A7-E813-19E8-7FDF0AD56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64" y="1657610"/>
                <a:ext cx="3264099" cy="485005"/>
              </a:xfrm>
              <a:prstGeom prst="rect">
                <a:avLst/>
              </a:prstGeom>
              <a:blipFill>
                <a:blip r:embed="rId5"/>
                <a:stretch>
                  <a:fillRect l="-1493" b="-101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6F4D9-3A3C-7376-AC4C-5A51D0C9FF89}"/>
                  </a:ext>
                </a:extLst>
              </p:cNvPr>
              <p:cNvSpPr txBox="1"/>
              <p:nvPr/>
            </p:nvSpPr>
            <p:spPr>
              <a:xfrm>
                <a:off x="7439581" y="2657466"/>
                <a:ext cx="1096519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D6F4D9-3A3C-7376-AC4C-5A51D0C9F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581" y="2657466"/>
                <a:ext cx="1096519" cy="491288"/>
              </a:xfrm>
              <a:prstGeom prst="rect">
                <a:avLst/>
              </a:prstGeom>
              <a:blipFill>
                <a:blip r:embed="rId6"/>
                <a:stretch>
                  <a:fillRect b="-864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FD3279-E413-ED22-0F6D-F5C1EC4220C6}"/>
                  </a:ext>
                </a:extLst>
              </p:cNvPr>
              <p:cNvSpPr txBox="1"/>
              <p:nvPr/>
            </p:nvSpPr>
            <p:spPr>
              <a:xfrm>
                <a:off x="4137892" y="1997160"/>
                <a:ext cx="1085233" cy="403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FD3279-E413-ED22-0F6D-F5C1EC422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892" y="1997160"/>
                <a:ext cx="1085233" cy="4032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0EC3A17-A504-D16C-6D26-6FBD6DBBE189}"/>
              </a:ext>
            </a:extLst>
          </p:cNvPr>
          <p:cNvGrpSpPr/>
          <p:nvPr/>
        </p:nvGrpSpPr>
        <p:grpSpPr>
          <a:xfrm>
            <a:off x="4140137" y="3788622"/>
            <a:ext cx="4324389" cy="451116"/>
            <a:chOff x="3283365" y="786268"/>
            <a:chExt cx="4324389" cy="4511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96E9F36-B324-5FEE-C3A5-7BFE0CF58210}"/>
                    </a:ext>
                  </a:extLst>
                </p:cNvPr>
                <p:cNvSpPr txBox="1"/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𝑔𝑒𝑛𝑒𝑟𝑎𝑡𝑒𝑑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𝑐𝑜𝑛𝑠𝑢𝑚𝑒𝑑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8940F69-8901-E31F-4C3B-EDD402E0D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365" y="820046"/>
                  <a:ext cx="43243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23" t="-2174" r="-987" b="-32609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665B521-1676-2ADD-BBEF-686571BCB4D4}"/>
                </a:ext>
              </a:extLst>
            </p:cNvPr>
            <p:cNvCxnSpPr/>
            <p:nvPr/>
          </p:nvCxnSpPr>
          <p:spPr>
            <a:xfrm flipH="1">
              <a:off x="3822192" y="786268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9E1496-1A84-723F-01AA-A04CDB439B67}"/>
                </a:ext>
              </a:extLst>
            </p:cNvPr>
            <p:cNvCxnSpPr/>
            <p:nvPr/>
          </p:nvCxnSpPr>
          <p:spPr>
            <a:xfrm flipH="1">
              <a:off x="4439648" y="800496"/>
              <a:ext cx="382636" cy="436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68A2FB9-6104-5588-4C0B-0ED342F03BA2}"/>
              </a:ext>
            </a:extLst>
          </p:cNvPr>
          <p:cNvSpPr txBox="1"/>
          <p:nvPr/>
        </p:nvSpPr>
        <p:spPr>
          <a:xfrm>
            <a:off x="752912" y="3489056"/>
            <a:ext cx="3831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energy</a:t>
            </a:r>
            <a:r>
              <a:rPr lang="da-DK" dirty="0"/>
              <a:t> balance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3FCC62-9345-F295-ED94-08F2121AC4EE}"/>
                  </a:ext>
                </a:extLst>
              </p:cNvPr>
              <p:cNvSpPr txBox="1"/>
              <p:nvPr/>
            </p:nvSpPr>
            <p:spPr>
              <a:xfrm>
                <a:off x="4171321" y="4339520"/>
                <a:ext cx="1837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3FCC62-9345-F295-ED94-08F2121AC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21" y="4339520"/>
                <a:ext cx="1837747" cy="276999"/>
              </a:xfrm>
              <a:prstGeom prst="rect">
                <a:avLst/>
              </a:prstGeom>
              <a:blipFill>
                <a:blip r:embed="rId9"/>
                <a:stretch>
                  <a:fillRect l="-2980" r="-1325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7B9708-4F45-6A3D-79CA-FA0376EAD86E}"/>
              </a:ext>
            </a:extLst>
          </p:cNvPr>
          <p:cNvCxnSpPr/>
          <p:nvPr/>
        </p:nvCxnSpPr>
        <p:spPr>
          <a:xfrm flipH="1">
            <a:off x="7607754" y="3788622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BF08D1-B933-C359-DECF-8F7C8EA4BE89}"/>
                  </a:ext>
                </a:extLst>
              </p:cNvPr>
              <p:cNvSpPr txBox="1"/>
              <p:nvPr/>
            </p:nvSpPr>
            <p:spPr>
              <a:xfrm>
                <a:off x="7468563" y="4186385"/>
                <a:ext cx="4453848" cy="4857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𝑚𝑎𝑠𝑠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𝑣𝑜𝑙𝑢𝑚𝑒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𝑡𝑖𝑚𝑒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BF08D1-B933-C359-DECF-8F7C8EA4B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563" y="4186385"/>
                <a:ext cx="4453848" cy="485710"/>
              </a:xfrm>
              <a:prstGeom prst="rect">
                <a:avLst/>
              </a:prstGeom>
              <a:blipFill>
                <a:blip r:embed="rId10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32691F-5A93-AD24-7E20-F4DE159A714E}"/>
                  </a:ext>
                </a:extLst>
              </p:cNvPr>
              <p:cNvSpPr txBox="1"/>
              <p:nvPr/>
            </p:nvSpPr>
            <p:spPr>
              <a:xfrm>
                <a:off x="9129596" y="5092054"/>
                <a:ext cx="40782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released</a:t>
                </a:r>
                <a:endParaRPr lang="da-DK" dirty="0"/>
              </a:p>
              <a:p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𝑟𝑥𝑛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energy</a:t>
                </a:r>
                <a:r>
                  <a:rPr lang="da-DK" dirty="0"/>
                  <a:t> </a:t>
                </a:r>
                <a:r>
                  <a:rPr lang="da-DK" dirty="0" err="1"/>
                  <a:t>absorbed</a:t>
                </a:r>
                <a:endParaRPr lang="da-DK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32691F-5A93-AD24-7E20-F4DE159A7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596" y="5092054"/>
                <a:ext cx="4078224" cy="646331"/>
              </a:xfrm>
              <a:prstGeom prst="rect">
                <a:avLst/>
              </a:prstGeom>
              <a:blipFill>
                <a:blip r:embed="rId11"/>
                <a:stretch>
                  <a:fillRect t="-3774" b="-1509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1D5CD9-7452-280F-A0BE-CA99E8B1D291}"/>
              </a:ext>
            </a:extLst>
          </p:cNvPr>
          <p:cNvCxnSpPr/>
          <p:nvPr/>
        </p:nvCxnSpPr>
        <p:spPr>
          <a:xfrm>
            <a:off x="9518904" y="4672095"/>
            <a:ext cx="0" cy="337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7FBCBE-4D2F-0435-5561-08C6E5B8593D}"/>
                  </a:ext>
                </a:extLst>
              </p:cNvPr>
              <p:cNvSpPr txBox="1"/>
              <p:nvPr/>
            </p:nvSpPr>
            <p:spPr>
              <a:xfrm>
                <a:off x="4164966" y="4817251"/>
                <a:ext cx="185300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7FBCBE-4D2F-0435-5561-08C6E5B85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66" y="4817251"/>
                <a:ext cx="1853008" cy="5259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B188A57-E642-4A2E-0195-1112FE70DBE7}"/>
              </a:ext>
            </a:extLst>
          </p:cNvPr>
          <p:cNvSpPr txBox="1"/>
          <p:nvPr/>
        </p:nvSpPr>
        <p:spPr>
          <a:xfrm>
            <a:off x="182279" y="5713948"/>
            <a:ext cx="10610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Tip: </a:t>
            </a:r>
            <a:r>
              <a:rPr lang="da-DK" dirty="0" err="1"/>
              <a:t>Sometimes</a:t>
            </a:r>
            <a:r>
              <a:rPr lang="da-DK" dirty="0"/>
              <a:t> </a:t>
            </a:r>
            <a:r>
              <a:rPr lang="da-DK" dirty="0" err="1"/>
              <a:t>generated</a:t>
            </a:r>
            <a:r>
              <a:rPr lang="da-DK" dirty="0"/>
              <a:t> and </a:t>
            </a:r>
            <a:r>
              <a:rPr lang="da-DK" dirty="0" err="1"/>
              <a:t>consumed</a:t>
            </a:r>
            <a:r>
              <a:rPr lang="da-DK" dirty="0"/>
              <a:t> is just </a:t>
            </a:r>
            <a:r>
              <a:rPr lang="da-DK" dirty="0" err="1"/>
              <a:t>condensed</a:t>
            </a:r>
            <a:r>
              <a:rPr lang="da-DK" dirty="0"/>
              <a:t> to ”S”, </a:t>
            </a:r>
            <a:r>
              <a:rPr lang="da-DK" dirty="0" err="1"/>
              <a:t>which</a:t>
            </a:r>
            <a:r>
              <a:rPr lang="da-DK" dirty="0"/>
              <a:t> stands for ”source”. </a:t>
            </a:r>
          </a:p>
          <a:p>
            <a:r>
              <a:rPr lang="da-DK" dirty="0"/>
              <a:t>S </a:t>
            </a:r>
            <a:r>
              <a:rPr lang="da-DK" dirty="0" err="1"/>
              <a:t>basicly</a:t>
            </a:r>
            <a:r>
              <a:rPr lang="da-DK" dirty="0"/>
              <a:t> </a:t>
            </a:r>
            <a:r>
              <a:rPr lang="da-DK" dirty="0" err="1"/>
              <a:t>represents</a:t>
            </a:r>
            <a:r>
              <a:rPr lang="da-DK" dirty="0"/>
              <a:t> all the </a:t>
            </a:r>
            <a:r>
              <a:rPr lang="da-DK" dirty="0" err="1"/>
              <a:t>stuff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is not from heat </a:t>
            </a:r>
            <a:r>
              <a:rPr lang="da-DK" dirty="0" err="1"/>
              <a:t>advection</a:t>
            </a:r>
            <a:r>
              <a:rPr lang="da-DK" dirty="0"/>
              <a:t> and heat diffusion! </a:t>
            </a:r>
          </a:p>
          <a:p>
            <a:r>
              <a:rPr lang="da-DK" dirty="0" err="1"/>
              <a:t>Example</a:t>
            </a:r>
            <a:r>
              <a:rPr lang="da-DK" dirty="0"/>
              <a:t>: heat removed or </a:t>
            </a:r>
            <a:r>
              <a:rPr lang="da-DK" dirty="0" err="1"/>
              <a:t>added</a:t>
            </a:r>
            <a:r>
              <a:rPr lang="da-DK" dirty="0"/>
              <a:t> from </a:t>
            </a:r>
            <a:r>
              <a:rPr lang="da-DK" dirty="0" err="1"/>
              <a:t>jacket</a:t>
            </a:r>
            <a:r>
              <a:rPr lang="da-DK" dirty="0"/>
              <a:t>, agitation, evaporation, heat from </a:t>
            </a:r>
            <a:r>
              <a:rPr lang="da-DK" dirty="0" err="1"/>
              <a:t>reaction</a:t>
            </a:r>
            <a:r>
              <a:rPr lang="da-DK" dirty="0"/>
              <a:t>, heat of fusion…</a:t>
            </a:r>
          </a:p>
        </p:txBody>
      </p:sp>
    </p:spTree>
    <p:extLst>
      <p:ext uri="{BB962C8B-B14F-4D97-AF65-F5344CB8AC3E}">
        <p14:creationId xmlns:p14="http://schemas.microsoft.com/office/powerpoint/2010/main" val="213653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22F2E2-673A-183D-A6F4-30A7162B371C}"/>
              </a:ext>
            </a:extLst>
          </p:cNvPr>
          <p:cNvSpPr txBox="1"/>
          <p:nvPr/>
        </p:nvSpPr>
        <p:spPr>
          <a:xfrm>
            <a:off x="1033272" y="466344"/>
            <a:ext cx="5450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In 0D:</a:t>
            </a:r>
          </a:p>
          <a:p>
            <a:r>
              <a:rPr lang="da-DK" dirty="0"/>
              <a:t>Mass balance of A + heat balance </a:t>
            </a:r>
            <a:r>
              <a:rPr lang="da-DK" dirty="0">
                <a:sym typeface="Wingdings" panose="05000000000000000000" pitchFamily="2" charset="2"/>
              </a:rPr>
              <a:t> 2 </a:t>
            </a:r>
            <a:r>
              <a:rPr lang="da-DK" dirty="0" err="1">
                <a:sym typeface="Wingdings" panose="05000000000000000000" pitchFamily="2" charset="2"/>
              </a:rPr>
              <a:t>state</a:t>
            </a:r>
            <a:r>
              <a:rPr lang="da-DK" dirty="0">
                <a:sym typeface="Wingdings" panose="05000000000000000000" pitchFamily="2" charset="2"/>
              </a:rPr>
              <a:t> variables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5B633E-402F-6999-8F7D-E2D4760A9309}"/>
              </a:ext>
            </a:extLst>
          </p:cNvPr>
          <p:cNvSpPr txBox="1"/>
          <p:nvPr/>
        </p:nvSpPr>
        <p:spPr>
          <a:xfrm>
            <a:off x="1197361" y="1764792"/>
            <a:ext cx="1476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Pseudo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code</a:t>
            </a:r>
            <a:endParaRPr lang="da-DK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C5B8F-EACF-31B1-BD53-82E97DB8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346" y="2208234"/>
            <a:ext cx="4262782" cy="41834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F2E78B-B295-B47D-9F70-1EDF3555C70F}"/>
              </a:ext>
            </a:extLst>
          </p:cNvPr>
          <p:cNvSpPr/>
          <p:nvPr/>
        </p:nvSpPr>
        <p:spPr>
          <a:xfrm>
            <a:off x="2340864" y="4389120"/>
            <a:ext cx="82296" cy="109728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86E3A-A687-6EB6-5577-025E43418F6B}"/>
              </a:ext>
            </a:extLst>
          </p:cNvPr>
          <p:cNvSpPr txBox="1"/>
          <p:nvPr/>
        </p:nvSpPr>
        <p:spPr>
          <a:xfrm>
            <a:off x="2628071" y="5257800"/>
            <a:ext cx="62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5375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F19D1F1-CF35-7E07-BA00-9B19254BEF76}"/>
              </a:ext>
            </a:extLst>
          </p:cNvPr>
          <p:cNvSpPr txBox="1"/>
          <p:nvPr/>
        </p:nvSpPr>
        <p:spPr>
          <a:xfrm>
            <a:off x="502197" y="56865"/>
            <a:ext cx="113285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sym typeface="Wingdings" panose="05000000000000000000" pitchFamily="2" charset="2"/>
              </a:rPr>
              <a:t>In 1D : </a:t>
            </a:r>
            <a:r>
              <a:rPr lang="da-DK" dirty="0"/>
              <a:t>Mass balance of A at x positions + heat balance at x positions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two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state</a:t>
            </a:r>
            <a:r>
              <a:rPr lang="da-DK" dirty="0">
                <a:sym typeface="Wingdings" panose="05000000000000000000" pitchFamily="2" charset="2"/>
              </a:rPr>
              <a:t> variables x positions</a:t>
            </a:r>
          </a:p>
          <a:p>
            <a:endParaRPr lang="da-DK" dirty="0">
              <a:sym typeface="Wingdings" panose="05000000000000000000" pitchFamily="2" charset="2"/>
            </a:endParaRPr>
          </a:p>
          <a:p>
            <a:endParaRPr lang="da-DK" dirty="0"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CB7A9D-B72B-FA24-0868-B5B26A3D99D3}"/>
                  </a:ext>
                </a:extLst>
              </p:cNvPr>
              <p:cNvSpPr txBox="1"/>
              <p:nvPr/>
            </p:nvSpPr>
            <p:spPr>
              <a:xfrm>
                <a:off x="4244319" y="1827395"/>
                <a:ext cx="16285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CB7A9D-B72B-FA24-0868-B5B26A3D9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319" y="1827395"/>
                <a:ext cx="1628587" cy="276999"/>
              </a:xfrm>
              <a:prstGeom prst="rect">
                <a:avLst/>
              </a:prstGeom>
              <a:blipFill>
                <a:blip r:embed="rId2"/>
                <a:stretch>
                  <a:fillRect l="-375" r="-1124" b="-15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A60CFE7-048D-25E5-A099-FD200712BEA5}"/>
              </a:ext>
            </a:extLst>
          </p:cNvPr>
          <p:cNvSpPr txBox="1"/>
          <p:nvPr/>
        </p:nvSpPr>
        <p:spPr>
          <a:xfrm>
            <a:off x="502197" y="964977"/>
            <a:ext cx="3831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 final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DF6974-BFAD-00E4-C4DA-776D0AE6CD1F}"/>
              </a:ext>
            </a:extLst>
          </p:cNvPr>
          <p:cNvSpPr txBox="1"/>
          <p:nvPr/>
        </p:nvSpPr>
        <p:spPr>
          <a:xfrm>
            <a:off x="505188" y="3525799"/>
            <a:ext cx="38313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Energy balance</a:t>
            </a:r>
          </a:p>
          <a:p>
            <a:r>
              <a:rPr lang="da-DK" dirty="0" err="1"/>
              <a:t>Conservation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</a:t>
            </a:r>
          </a:p>
          <a:p>
            <a:endParaRPr lang="da-DK" dirty="0"/>
          </a:p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707FFA-E437-9D70-9DAF-7A7F3FD1CD02}"/>
                  </a:ext>
                </a:extLst>
              </p:cNvPr>
              <p:cNvSpPr txBox="1"/>
              <p:nvPr/>
            </p:nvSpPr>
            <p:spPr>
              <a:xfrm>
                <a:off x="4164966" y="4409250"/>
                <a:ext cx="231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𝑟𝑥𝑛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707FFA-E437-9D70-9DAF-7A7F3FD1C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66" y="4409250"/>
                <a:ext cx="2316724" cy="276999"/>
              </a:xfrm>
              <a:prstGeom prst="rect">
                <a:avLst/>
              </a:prstGeom>
              <a:blipFill>
                <a:blip r:embed="rId3"/>
                <a:stretch>
                  <a:fillRect l="-1842" r="-1053" b="-2391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0E414F-7586-A90F-ACF7-937EE9739369}"/>
                  </a:ext>
                </a:extLst>
              </p:cNvPr>
              <p:cNvSpPr txBox="1"/>
              <p:nvPr/>
            </p:nvSpPr>
            <p:spPr>
              <a:xfrm>
                <a:off x="4148202" y="4820529"/>
                <a:ext cx="1796069" cy="493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a-DK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𝑟𝑥𝑛</m:t>
                            </m:r>
                          </m:sub>
                        </m:sSub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D0E414F-7586-A90F-ACF7-937EE9739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202" y="4820529"/>
                <a:ext cx="1796069" cy="4934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629385-02AF-52A0-4A1D-2FB77DBFE7BF}"/>
                  </a:ext>
                </a:extLst>
              </p:cNvPr>
              <p:cNvSpPr txBox="1"/>
              <p:nvPr/>
            </p:nvSpPr>
            <p:spPr>
              <a:xfrm>
                <a:off x="4273393" y="2152197"/>
                <a:ext cx="1085233" cy="403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629385-02AF-52A0-4A1D-2FB77DBFE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393" y="2152197"/>
                <a:ext cx="1085233" cy="4032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DAD97B-56D0-5C52-2C86-57B0B5E5E86F}"/>
                  </a:ext>
                </a:extLst>
              </p:cNvPr>
              <p:cNvSpPr txBox="1"/>
              <p:nvPr/>
            </p:nvSpPr>
            <p:spPr>
              <a:xfrm>
                <a:off x="4171321" y="1101782"/>
                <a:ext cx="2703432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DAD97B-56D0-5C52-2C86-57B0B5E5E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21" y="1101782"/>
                <a:ext cx="2703432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3843283-069E-0D9A-F5F8-020B906A31DE}"/>
              </a:ext>
            </a:extLst>
          </p:cNvPr>
          <p:cNvCxnSpPr/>
          <p:nvPr/>
        </p:nvCxnSpPr>
        <p:spPr>
          <a:xfrm flipH="1">
            <a:off x="5991412" y="1194160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8471FC-B989-2A8D-83DD-FA240E0C30D8}"/>
                  </a:ext>
                </a:extLst>
              </p:cNvPr>
              <p:cNvSpPr txBox="1"/>
              <p:nvPr/>
            </p:nvSpPr>
            <p:spPr>
              <a:xfrm>
                <a:off x="4194365" y="2741409"/>
                <a:ext cx="2219582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8471FC-B989-2A8D-83DD-FA240E0C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365" y="2741409"/>
                <a:ext cx="2219582" cy="5557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01D8E8-D53A-67C8-4216-2DF400193AB8}"/>
                  </a:ext>
                </a:extLst>
              </p:cNvPr>
              <p:cNvSpPr txBox="1"/>
              <p:nvPr/>
            </p:nvSpPr>
            <p:spPr>
              <a:xfrm>
                <a:off x="4049401" y="3677854"/>
                <a:ext cx="2862194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01D8E8-D53A-67C8-4216-2DF400193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01" y="3677854"/>
                <a:ext cx="2862194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C40461-082C-0ADD-ECCB-2546C3E688A0}"/>
              </a:ext>
            </a:extLst>
          </p:cNvPr>
          <p:cNvCxnSpPr/>
          <p:nvPr/>
        </p:nvCxnSpPr>
        <p:spPr>
          <a:xfrm flipH="1">
            <a:off x="6096000" y="3737306"/>
            <a:ext cx="382636" cy="4368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FE709BF-FF58-F28E-5B65-124AE15E9DFB}"/>
              </a:ext>
            </a:extLst>
          </p:cNvPr>
          <p:cNvSpPr txBox="1"/>
          <p:nvPr/>
        </p:nvSpPr>
        <p:spPr>
          <a:xfrm>
            <a:off x="502197" y="96497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Mass balance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257A3E7-2B18-2B93-4C9F-C5A263A5D090}"/>
              </a:ext>
            </a:extLst>
          </p:cNvPr>
          <p:cNvCxnSpPr>
            <a:cxnSpLocks/>
          </p:cNvCxnSpPr>
          <p:nvPr/>
        </p:nvCxnSpPr>
        <p:spPr>
          <a:xfrm flipH="1">
            <a:off x="6638544" y="3180146"/>
            <a:ext cx="530352" cy="422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05ADC0-7650-AFA4-95D3-CD4B0758294D}"/>
              </a:ext>
            </a:extLst>
          </p:cNvPr>
          <p:cNvSpPr txBox="1"/>
          <p:nvPr/>
        </p:nvSpPr>
        <p:spPr>
          <a:xfrm>
            <a:off x="7242048" y="2790022"/>
            <a:ext cx="1481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No heat </a:t>
            </a:r>
            <a:r>
              <a:rPr lang="da-DK" dirty="0" err="1"/>
              <a:t>advection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46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8421-1A93-4914-E475-4C13434A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Discuss</a:t>
            </a:r>
            <a:r>
              <a:rPr lang="da-DK" dirty="0"/>
              <a:t> with a classmate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AA0C-E1D8-6699-30ED-BF18026F3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You</a:t>
            </a:r>
            <a:r>
              <a:rPr lang="da-DK" dirty="0"/>
              <a:t> have 3 </a:t>
            </a:r>
            <a:r>
              <a:rPr lang="da-DK" dirty="0" err="1"/>
              <a:t>chemical</a:t>
            </a:r>
            <a:r>
              <a:rPr lang="da-DK" dirty="0"/>
              <a:t> species and a heat balance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track in a model.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remember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from a </a:t>
            </a:r>
            <a:r>
              <a:rPr lang="da-DK" dirty="0" err="1"/>
              <a:t>quick</a:t>
            </a:r>
            <a:r>
              <a:rPr lang="da-DK" dirty="0"/>
              <a:t> </a:t>
            </a:r>
            <a:r>
              <a:rPr lang="da-DK" dirty="0" err="1"/>
              <a:t>glitch</a:t>
            </a:r>
            <a:r>
              <a:rPr lang="da-DK" dirty="0"/>
              <a:t> at the </a:t>
            </a:r>
            <a:r>
              <a:rPr lang="da-DK" dirty="0" err="1"/>
              <a:t>code</a:t>
            </a:r>
            <a:r>
              <a:rPr lang="da-DK" dirty="0"/>
              <a:t>.</a:t>
            </a:r>
          </a:p>
          <a:p>
            <a:pPr marL="0" indent="0">
              <a:buNone/>
            </a:pPr>
            <a:r>
              <a:rPr lang="da-DK" dirty="0" err="1"/>
              <a:t>x_grid</a:t>
            </a:r>
            <a:r>
              <a:rPr lang="da-DK" dirty="0"/>
              <a:t> = </a:t>
            </a:r>
            <a:r>
              <a:rPr lang="da-DK" dirty="0" err="1"/>
              <a:t>np.arange</a:t>
            </a:r>
            <a:r>
              <a:rPr lang="da-DK" dirty="0"/>
              <a:t>(0, 1 + 0.1, 0.1) # meters</a:t>
            </a:r>
          </a:p>
          <a:p>
            <a:pPr marL="0" indent="0">
              <a:buNone/>
            </a:pPr>
            <a:r>
              <a:rPr lang="da-DK" dirty="0" err="1"/>
              <a:t>tmax</a:t>
            </a:r>
            <a:r>
              <a:rPr lang="da-DK" dirty="0"/>
              <a:t> = 100 # </a:t>
            </a:r>
            <a:r>
              <a:rPr lang="da-DK" dirty="0" err="1"/>
              <a:t>seconds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sol = </a:t>
            </a:r>
            <a:r>
              <a:rPr lang="da-DK" dirty="0" err="1"/>
              <a:t>solve_ivp</a:t>
            </a:r>
            <a:r>
              <a:rPr lang="da-DK" dirty="0"/>
              <a:t>(…..</a:t>
            </a:r>
            <a:r>
              <a:rPr lang="da-DK" dirty="0" err="1"/>
              <a:t>t_eval</a:t>
            </a:r>
            <a:r>
              <a:rPr lang="da-DK" dirty="0"/>
              <a:t> = </a:t>
            </a:r>
            <a:r>
              <a:rPr lang="da-DK" dirty="0" err="1"/>
              <a:t>np.linspace</a:t>
            </a:r>
            <a:r>
              <a:rPr lang="da-DK" dirty="0"/>
              <a:t>(0, </a:t>
            </a:r>
            <a:r>
              <a:rPr lang="da-DK" dirty="0" err="1"/>
              <a:t>tmax</a:t>
            </a:r>
            <a:r>
              <a:rPr lang="da-DK" dirty="0"/>
              <a:t>, 50))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What</a:t>
            </a:r>
            <a:r>
              <a:rPr lang="da-DK" dirty="0"/>
              <a:t> is the dimensions of the </a:t>
            </a:r>
            <a:r>
              <a:rPr lang="da-DK" dirty="0" err="1"/>
              <a:t>sol.y</a:t>
            </a:r>
            <a:r>
              <a:rPr lang="da-DK" dirty="0"/>
              <a:t>? (</a:t>
            </a:r>
            <a:r>
              <a:rPr lang="da-DK" dirty="0" err="1"/>
              <a:t>approximately</a:t>
            </a:r>
            <a:r>
              <a:rPr lang="da-DK" dirty="0"/>
              <a:t>)</a:t>
            </a:r>
          </a:p>
          <a:p>
            <a:pPr marL="0" indent="0">
              <a:buNone/>
            </a:pP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</a:t>
            </a:r>
            <a:r>
              <a:rPr lang="da-DK" dirty="0" err="1"/>
              <a:t>sol.y</a:t>
            </a:r>
            <a:r>
              <a:rPr lang="da-DK" dirty="0"/>
              <a:t>[16, 25] most </a:t>
            </a:r>
            <a:r>
              <a:rPr lang="da-DK" dirty="0" err="1"/>
              <a:t>likely</a:t>
            </a:r>
            <a:r>
              <a:rPr lang="da-DK" dirty="0"/>
              <a:t> </a:t>
            </a:r>
            <a:r>
              <a:rPr lang="da-DK" dirty="0" err="1"/>
              <a:t>represent</a:t>
            </a:r>
            <a:r>
              <a:rPr lang="da-DK" dirty="0"/>
              <a:t>? (</a:t>
            </a:r>
            <a:r>
              <a:rPr lang="da-DK" dirty="0" err="1"/>
              <a:t>approximately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983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16F437-FF42-2181-29ED-FC4108AA7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898708"/>
            <a:ext cx="10478962" cy="374384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4C77FA-1617-3C9B-E254-1EF6F9265CD8}"/>
              </a:ext>
            </a:extLst>
          </p:cNvPr>
          <p:cNvCxnSpPr/>
          <p:nvPr/>
        </p:nvCxnSpPr>
        <p:spPr>
          <a:xfrm flipH="1">
            <a:off x="4270248" y="1426464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4791F1-EBDF-0FBC-BE09-8C95DC388D06}"/>
              </a:ext>
            </a:extLst>
          </p:cNvPr>
          <p:cNvCxnSpPr/>
          <p:nvPr/>
        </p:nvCxnSpPr>
        <p:spPr>
          <a:xfrm flipH="1">
            <a:off x="4130040" y="1706880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E7AB83-3213-D0D9-4448-F0C07ABB94F6}"/>
              </a:ext>
            </a:extLst>
          </p:cNvPr>
          <p:cNvCxnSpPr/>
          <p:nvPr/>
        </p:nvCxnSpPr>
        <p:spPr>
          <a:xfrm flipH="1">
            <a:off x="4130040" y="1974032"/>
            <a:ext cx="1825752" cy="886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146BF7-75E1-38F4-34E2-9C26F69C15F5}"/>
              </a:ext>
            </a:extLst>
          </p:cNvPr>
          <p:cNvSpPr txBox="1"/>
          <p:nvPr/>
        </p:nvSpPr>
        <p:spPr>
          <a:xfrm>
            <a:off x="6236208" y="1337548"/>
            <a:ext cx="5099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in loop with </a:t>
            </a:r>
            <a:r>
              <a:rPr lang="da-DK" dirty="0" err="1"/>
              <a:t>indexing</a:t>
            </a:r>
            <a:r>
              <a:rPr lang="da-DK" dirty="0"/>
              <a:t> </a:t>
            </a:r>
            <a:r>
              <a:rPr lang="da-DK" dirty="0" err="1"/>
              <a:t>directly</a:t>
            </a:r>
            <a:endParaRPr lang="da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F34A4-6CAC-F939-9D46-480860144272}"/>
              </a:ext>
            </a:extLst>
          </p:cNvPr>
          <p:cNvSpPr txBox="1"/>
          <p:nvPr/>
        </p:nvSpPr>
        <p:spPr>
          <a:xfrm>
            <a:off x="792511" y="393192"/>
            <a:ext cx="286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rgbClr val="FF0000"/>
                </a:solidFill>
              </a:rPr>
              <a:t>Pseudo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code</a:t>
            </a:r>
            <a:r>
              <a:rPr lang="da-DK" dirty="0">
                <a:solidFill>
                  <a:srgbClr val="FF0000"/>
                </a:solidFill>
              </a:rPr>
              <a:t> (</a:t>
            </a:r>
            <a:r>
              <a:rPr lang="da-DK" dirty="0" err="1">
                <a:solidFill>
                  <a:srgbClr val="FF0000"/>
                </a:solidFill>
              </a:rPr>
              <a:t>without</a:t>
            </a: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 err="1">
                <a:solidFill>
                  <a:srgbClr val="FF0000"/>
                </a:solidFill>
              </a:rPr>
              <a:t>BCs</a:t>
            </a:r>
            <a:r>
              <a:rPr lang="da-DK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2113B7-3A01-AF49-D868-42D386EBCBB9}"/>
              </a:ext>
            </a:extLst>
          </p:cNvPr>
          <p:cNvSpPr txBox="1"/>
          <p:nvPr/>
        </p:nvSpPr>
        <p:spPr>
          <a:xfrm>
            <a:off x="1388364" y="4909707"/>
            <a:ext cx="913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The 1D version is on </a:t>
            </a:r>
            <a:r>
              <a:rPr lang="da-DK" dirty="0" err="1"/>
              <a:t>concentration</a:t>
            </a:r>
            <a:r>
              <a:rPr lang="da-DK" dirty="0"/>
              <a:t> basis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322A6-2E3A-06FC-8657-A71886F884C1}"/>
              </a:ext>
            </a:extLst>
          </p:cNvPr>
          <p:cNvSpPr/>
          <p:nvPr/>
        </p:nvSpPr>
        <p:spPr>
          <a:xfrm>
            <a:off x="1847088" y="2538984"/>
            <a:ext cx="128016" cy="109728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F3F9F-4E67-E60F-5E75-DDB88AA7A153}"/>
              </a:ext>
            </a:extLst>
          </p:cNvPr>
          <p:cNvSpPr/>
          <p:nvPr/>
        </p:nvSpPr>
        <p:spPr>
          <a:xfrm>
            <a:off x="8144256" y="3651504"/>
            <a:ext cx="128016" cy="109728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C7248-9A8C-5630-B229-26F029EF70AA}"/>
              </a:ext>
            </a:extLst>
          </p:cNvPr>
          <p:cNvSpPr txBox="1"/>
          <p:nvPr/>
        </p:nvSpPr>
        <p:spPr>
          <a:xfrm>
            <a:off x="8116824" y="3512558"/>
            <a:ext cx="43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48725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549</Words>
  <Application>Microsoft Office PowerPoint</Application>
  <PresentationFormat>Widescreen</PresentationFormat>
  <Paragraphs>81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Wingdings</vt:lpstr>
      <vt:lpstr>Office Theme</vt:lpstr>
      <vt:lpstr>Coupling mass and energy balance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 with a classmate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Frederik Rask Dalby</dc:creator>
  <cp:lastModifiedBy>Frederik Rask Dalby</cp:lastModifiedBy>
  <cp:revision>2</cp:revision>
  <dcterms:created xsi:type="dcterms:W3CDTF">2025-08-22T10:59:19Z</dcterms:created>
  <dcterms:modified xsi:type="dcterms:W3CDTF">2026-10-26T12:26:32Z</dcterms:modified>
</cp:coreProperties>
</file>