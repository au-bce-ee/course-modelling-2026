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63" r:id="rId6"/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B8EE-BB76-C380-2B42-421AEFB4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Notes from last time on model </a:t>
            </a:r>
            <a:r>
              <a:rPr lang="da-DK" dirty="0" err="1"/>
              <a:t>formulation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0DED-4077-47D0-5DD0-EB73C9940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</a:t>
            </a:r>
            <a:r>
              <a:rPr lang="da-DK" dirty="0" err="1"/>
              <a:t>Linking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needed</a:t>
            </a:r>
            <a:r>
              <a:rPr lang="da-DK" dirty="0"/>
              <a:t>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The salt </a:t>
            </a:r>
            <a:r>
              <a:rPr lang="da-DK" dirty="0" err="1"/>
              <a:t>water</a:t>
            </a:r>
            <a:r>
              <a:rPr lang="da-DK" dirty="0"/>
              <a:t> problem did </a:t>
            </a:r>
            <a:r>
              <a:rPr lang="da-DK" u="sng" dirty="0"/>
              <a:t>not</a:t>
            </a:r>
            <a:r>
              <a:rPr lang="da-DK" dirty="0"/>
              <a:t> have </a:t>
            </a:r>
            <a:r>
              <a:rPr lang="da-DK" dirty="0" err="1"/>
              <a:t>any</a:t>
            </a:r>
            <a:r>
              <a:rPr lang="da-DK" dirty="0"/>
              <a:t> ”reel” 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The </a:t>
            </a:r>
            <a:r>
              <a:rPr lang="da-DK" dirty="0" err="1"/>
              <a:t>slurry</a:t>
            </a:r>
            <a:r>
              <a:rPr lang="da-DK" dirty="0"/>
              <a:t> </a:t>
            </a:r>
            <a:r>
              <a:rPr lang="da-DK" dirty="0" err="1"/>
              <a:t>cooling</a:t>
            </a:r>
            <a:r>
              <a:rPr lang="da-DK" dirty="0"/>
              <a:t> problem had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variables (m, 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varaibles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conservation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equations</a:t>
            </a:r>
            <a:r>
              <a:rPr lang="da-DK" dirty="0">
                <a:sym typeface="Wingdings" panose="05000000000000000000" pitchFamily="2" charset="2"/>
              </a:rPr>
              <a:t> 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governing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equations</a:t>
            </a:r>
            <a:endParaRPr lang="da-DK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You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choose</a:t>
            </a:r>
            <a:r>
              <a:rPr lang="da-DK" dirty="0">
                <a:sym typeface="Wingdings" panose="05000000000000000000" pitchFamily="2" charset="2"/>
              </a:rPr>
              <a:t> units, as long as </a:t>
            </a:r>
            <a:r>
              <a:rPr lang="da-DK" dirty="0" err="1">
                <a:sym typeface="Wingdings" panose="05000000000000000000" pitchFamily="2" charset="2"/>
              </a:rPr>
              <a:t>they</a:t>
            </a:r>
            <a:r>
              <a:rPr lang="da-DK" dirty="0">
                <a:sym typeface="Wingdings" panose="05000000000000000000" pitchFamily="2" charset="2"/>
              </a:rPr>
              <a:t> match. Heat and </a:t>
            </a:r>
            <a:r>
              <a:rPr lang="da-DK" dirty="0" err="1">
                <a:sym typeface="Wingdings" panose="05000000000000000000" pitchFamily="2" charset="2"/>
              </a:rPr>
              <a:t>mass</a:t>
            </a:r>
            <a:r>
              <a:rPr lang="da-DK" dirty="0">
                <a:sym typeface="Wingdings" panose="05000000000000000000" pitchFamily="2" charset="2"/>
              </a:rPr>
              <a:t> transfer </a:t>
            </a:r>
            <a:r>
              <a:rPr lang="da-DK" dirty="0" err="1">
                <a:sym typeface="Wingdings" panose="05000000000000000000" pitchFamily="2" charset="2"/>
              </a:rPr>
              <a:t>coefficient</a:t>
            </a:r>
            <a:r>
              <a:rPr lang="da-DK" dirty="0">
                <a:sym typeface="Wingdings" panose="05000000000000000000" pitchFamily="2" charset="2"/>
              </a:rPr>
              <a:t> units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derived</a:t>
            </a:r>
            <a:r>
              <a:rPr lang="da-DK" dirty="0">
                <a:sym typeface="Wingdings" panose="05000000000000000000" pitchFamily="2" charset="2"/>
              </a:rPr>
              <a:t> by unit </a:t>
            </a:r>
            <a:r>
              <a:rPr lang="da-DK" dirty="0" err="1">
                <a:sym typeface="Wingdings" panose="05000000000000000000" pitchFamily="2" charset="2"/>
              </a:rPr>
              <a:t>analysis</a:t>
            </a:r>
            <a:endParaRPr lang="da-DK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28616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Solving and implementing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31-08-2026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6899-03BE-A49B-B41A-6A297F7A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Methods for </a:t>
            </a:r>
            <a:r>
              <a:rPr lang="da-DK" dirty="0" err="1"/>
              <a:t>solving</a:t>
            </a:r>
            <a:r>
              <a:rPr lang="da-DK" dirty="0"/>
              <a:t> models </a:t>
            </a:r>
            <a:r>
              <a:rPr lang="da-DK" dirty="0" err="1"/>
              <a:t>numerically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C521-A1CE-F33F-36BB-80CF5E07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38" y="18897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for the </a:t>
            </a:r>
            <a:r>
              <a:rPr lang="da-DK" dirty="0" err="1"/>
              <a:t>coffee</a:t>
            </a:r>
            <a:r>
              <a:rPr lang="da-DK" dirty="0"/>
              <a:t> cup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D4F0B-B1BA-EAEA-0030-E553867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547" y="2652928"/>
            <a:ext cx="4705520" cy="3588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9A6138-AA61-6C4A-741D-F878AFCBF968}"/>
              </a:ext>
            </a:extLst>
          </p:cNvPr>
          <p:cNvSpPr txBox="1"/>
          <p:nvPr/>
        </p:nvSpPr>
        <p:spPr>
          <a:xfrm>
            <a:off x="887002" y="3720692"/>
            <a:ext cx="4892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solve</a:t>
            </a:r>
            <a:r>
              <a:rPr lang="da-DK" dirty="0"/>
              <a:t> it. And ODE like </a:t>
            </a:r>
            <a:r>
              <a:rPr lang="da-DK" dirty="0" err="1"/>
              <a:t>that</a:t>
            </a:r>
            <a:r>
              <a:rPr lang="da-DK" dirty="0"/>
              <a:t> is </a:t>
            </a:r>
            <a:r>
              <a:rPr lang="da-DK" dirty="0" err="1"/>
              <a:t>solved</a:t>
            </a:r>
            <a:r>
              <a:rPr lang="da-DK" dirty="0"/>
              <a:t> by integration</a:t>
            </a:r>
          </a:p>
          <a:p>
            <a:endParaRPr lang="da-D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Numerically</a:t>
            </a:r>
            <a:endParaRPr lang="da-D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Analytically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DB97F-810B-403D-AC6D-C63603F65BAB}"/>
                  </a:ext>
                </a:extLst>
              </p:cNvPr>
              <p:cNvSpPr txBox="1"/>
              <p:nvPr/>
            </p:nvSpPr>
            <p:spPr>
              <a:xfrm>
                <a:off x="945038" y="2716417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DB97F-810B-403D-AC6D-C63603F65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8" y="2716417"/>
                <a:ext cx="2580578" cy="603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7812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60F1-B16B-8B67-4F8E-4C546545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Analytically</a:t>
            </a:r>
            <a:endParaRPr lang="da-DK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C2414D-93A2-E654-ECD3-348FE239C912}"/>
              </a:ext>
            </a:extLst>
          </p:cNvPr>
          <p:cNvSpPr/>
          <p:nvPr/>
        </p:nvSpPr>
        <p:spPr>
          <a:xfrm>
            <a:off x="1492793" y="1923576"/>
            <a:ext cx="837127" cy="7856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5E185-4A09-C8BA-586D-0703550F000F}"/>
              </a:ext>
            </a:extLst>
          </p:cNvPr>
          <p:cNvSpPr txBox="1"/>
          <p:nvPr/>
        </p:nvSpPr>
        <p:spPr>
          <a:xfrm>
            <a:off x="1375619" y="3059723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constant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C01A23-9B36-3708-5E4A-D3B23BBAD583}"/>
              </a:ext>
            </a:extLst>
          </p:cNvPr>
          <p:cNvSpPr txBox="1"/>
          <p:nvPr/>
        </p:nvSpPr>
        <p:spPr>
          <a:xfrm>
            <a:off x="3613972" y="2512194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constant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C0966-3CB5-20BC-B515-6236CAA44804}"/>
              </a:ext>
            </a:extLst>
          </p:cNvPr>
          <p:cNvSpPr txBox="1"/>
          <p:nvPr/>
        </p:nvSpPr>
        <p:spPr>
          <a:xfrm>
            <a:off x="2584437" y="2849260"/>
            <a:ext cx="114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State variable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7A589-2B01-B769-42C8-FAD9D33D270F}"/>
              </a:ext>
            </a:extLst>
          </p:cNvPr>
          <p:cNvCxnSpPr>
            <a:stCxn id="7" idx="0"/>
            <a:endCxn id="6" idx="4"/>
          </p:cNvCxnSpPr>
          <p:nvPr/>
        </p:nvCxnSpPr>
        <p:spPr>
          <a:xfrm flipV="1">
            <a:off x="1910862" y="2756079"/>
            <a:ext cx="0" cy="303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9C7DD6-8C93-DB3B-9AD1-595AB6CE7BED}"/>
              </a:ext>
            </a:extLst>
          </p:cNvPr>
          <p:cNvCxnSpPr>
            <a:cxnSpLocks/>
          </p:cNvCxnSpPr>
          <p:nvPr/>
        </p:nvCxnSpPr>
        <p:spPr>
          <a:xfrm flipH="1" flipV="1">
            <a:off x="2584437" y="2512194"/>
            <a:ext cx="158764" cy="33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E1AFD1-B456-8392-D767-3DA6C189832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207290" y="2520109"/>
            <a:ext cx="406682" cy="17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C76956-1D02-951D-65FD-7A50F762CDC4}"/>
              </a:ext>
            </a:extLst>
          </p:cNvPr>
          <p:cNvSpPr txBox="1"/>
          <p:nvPr/>
        </p:nvSpPr>
        <p:spPr>
          <a:xfrm>
            <a:off x="5908431" y="1449187"/>
            <a:ext cx="538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It is a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ODE!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solve</a:t>
            </a:r>
            <a:r>
              <a:rPr lang="da-DK" dirty="0">
                <a:sym typeface="Wingdings" panose="05000000000000000000" pitchFamily="2" charset="2"/>
              </a:rPr>
              <a:t> it </a:t>
            </a:r>
            <a:r>
              <a:rPr lang="da-DK" dirty="0" err="1">
                <a:sym typeface="Wingdings" panose="05000000000000000000" pitchFamily="2" charset="2"/>
              </a:rPr>
              <a:t>analytically</a:t>
            </a:r>
            <a:endParaRPr lang="da-DK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DF6888-7BDE-3899-5F1E-99982CDE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8" y="1719897"/>
            <a:ext cx="1362265" cy="8002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146F281-6CC7-8348-0A00-E932E99D1DCE}"/>
              </a:ext>
            </a:extLst>
          </p:cNvPr>
          <p:cNvSpPr txBox="1"/>
          <p:nvPr/>
        </p:nvSpPr>
        <p:spPr>
          <a:xfrm>
            <a:off x="8349885" y="2606215"/>
            <a:ext cx="343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Separating</a:t>
            </a:r>
            <a:r>
              <a:rPr lang="da-DK" dirty="0"/>
              <a:t> variable and </a:t>
            </a:r>
            <a:r>
              <a:rPr lang="da-DK" dirty="0" err="1"/>
              <a:t>integrate</a:t>
            </a:r>
            <a:endParaRPr lang="da-DK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281DE3-120C-EC55-FEFA-C179718F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89" y="3423665"/>
            <a:ext cx="1047896" cy="390580"/>
          </a:xfrm>
          <a:prstGeom prst="rect">
            <a:avLst/>
          </a:prstGeom>
        </p:spPr>
      </p:pic>
      <p:sp>
        <p:nvSpPr>
          <p:cNvPr id="33" name="Arc 32">
            <a:extLst>
              <a:ext uri="{FF2B5EF4-FFF2-40B4-BE49-F238E27FC236}">
                <a16:creationId xmlns:a16="http://schemas.microsoft.com/office/drawing/2014/main" id="{2966647D-B9E4-BA49-C8AD-E0D336119380}"/>
              </a:ext>
            </a:extLst>
          </p:cNvPr>
          <p:cNvSpPr/>
          <p:nvPr/>
        </p:nvSpPr>
        <p:spPr>
          <a:xfrm rot="2390684">
            <a:off x="6816804" y="2153048"/>
            <a:ext cx="1362265" cy="1686120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29752B-F900-CA7E-5F21-08EA4E098FE4}"/>
              </a:ext>
            </a:extLst>
          </p:cNvPr>
          <p:cNvSpPr txBox="1"/>
          <p:nvPr/>
        </p:nvSpPr>
        <p:spPr>
          <a:xfrm>
            <a:off x="838201" y="591713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recognize</a:t>
            </a:r>
            <a:r>
              <a:rPr lang="da-DK" dirty="0"/>
              <a:t> a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ODE and </a:t>
            </a:r>
            <a:r>
              <a:rPr lang="da-DK" dirty="0" err="1"/>
              <a:t>memorize</a:t>
            </a:r>
            <a:r>
              <a:rPr lang="da-DK" dirty="0"/>
              <a:t> </a:t>
            </a:r>
            <a:r>
              <a:rPr lang="da-DK" dirty="0" err="1"/>
              <a:t>its</a:t>
            </a:r>
            <a:r>
              <a:rPr lang="da-DK" dirty="0"/>
              <a:t> solution!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4582CE-C414-7AE4-F8FA-0D25F098643B}"/>
                  </a:ext>
                </a:extLst>
              </p:cNvPr>
              <p:cNvSpPr txBox="1"/>
              <p:nvPr/>
            </p:nvSpPr>
            <p:spPr>
              <a:xfrm>
                <a:off x="6973989" y="5382139"/>
                <a:ext cx="1279581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4582CE-C414-7AE4-F8FA-0D25F0986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989" y="5382139"/>
                <a:ext cx="1279581" cy="281937"/>
              </a:xfrm>
              <a:prstGeom prst="rect">
                <a:avLst/>
              </a:prstGeom>
              <a:blipFill>
                <a:blip r:embed="rId4"/>
                <a:stretch>
                  <a:fillRect l="-4286" t="-2174" r="-1429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8D55D8-D24E-3D9F-EACE-AB602084DB5A}"/>
                  </a:ext>
                </a:extLst>
              </p:cNvPr>
              <p:cNvSpPr txBox="1"/>
              <p:nvPr/>
            </p:nvSpPr>
            <p:spPr>
              <a:xfrm>
                <a:off x="3971987" y="3347524"/>
                <a:ext cx="14782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8D55D8-D24E-3D9F-EACE-AB602084D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87" y="3347524"/>
                <a:ext cx="1478225" cy="276999"/>
              </a:xfrm>
              <a:prstGeom prst="rect">
                <a:avLst/>
              </a:prstGeom>
              <a:blipFill>
                <a:blip r:embed="rId5"/>
                <a:stretch>
                  <a:fillRect l="-3719" t="-2174" r="-5785" b="-3260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6E8C5A4-4C0F-33C0-7A60-C7201BDD7E64}"/>
              </a:ext>
            </a:extLst>
          </p:cNvPr>
          <p:cNvSpPr txBox="1"/>
          <p:nvPr/>
        </p:nvSpPr>
        <p:spPr>
          <a:xfrm>
            <a:off x="4086826" y="2978192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chemeClr val="accent1"/>
                </a:solidFill>
              </a:rPr>
              <a:t>substitute</a:t>
            </a:r>
            <a:endParaRPr lang="da-DK" dirty="0">
              <a:solidFill>
                <a:schemeClr val="accent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C2B88A-F3AD-3367-1AF4-3C36494C397E}"/>
              </a:ext>
            </a:extLst>
          </p:cNvPr>
          <p:cNvSpPr/>
          <p:nvPr/>
        </p:nvSpPr>
        <p:spPr>
          <a:xfrm>
            <a:off x="3890996" y="2978192"/>
            <a:ext cx="1586924" cy="917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5D157E-78E0-41D8-3810-3E9116451255}"/>
                  </a:ext>
                </a:extLst>
              </p:cNvPr>
              <p:cNvSpPr txBox="1"/>
              <p:nvPr/>
            </p:nvSpPr>
            <p:spPr>
              <a:xfrm>
                <a:off x="1492793" y="4187245"/>
                <a:ext cx="6096000" cy="695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a-DK" sz="1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da-DK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 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sSub>
                            <m:sSubPr>
                              <m:ctrlP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 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da-DK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5D157E-78E0-41D8-3810-3E9116451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793" y="4187245"/>
                <a:ext cx="6096000" cy="695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D9238F4C-BEDB-CD1F-32C6-2E2DC87C8C0F}"/>
              </a:ext>
            </a:extLst>
          </p:cNvPr>
          <p:cNvSpPr/>
          <p:nvPr/>
        </p:nvSpPr>
        <p:spPr>
          <a:xfrm>
            <a:off x="3890996" y="4137314"/>
            <a:ext cx="1586924" cy="917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5DEF207-6D28-7348-5785-614541C38032}"/>
                  </a:ext>
                </a:extLst>
              </p:cNvPr>
              <p:cNvSpPr txBox="1"/>
              <p:nvPr/>
            </p:nvSpPr>
            <p:spPr>
              <a:xfrm>
                <a:off x="4149215" y="5252713"/>
                <a:ext cx="122886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5DEF207-6D28-7348-5785-614541C38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215" y="5252713"/>
                <a:ext cx="1228863" cy="525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B7A693-BF15-ECEB-6320-2CD093DB7599}"/>
              </a:ext>
            </a:extLst>
          </p:cNvPr>
          <p:cNvCxnSpPr/>
          <p:nvPr/>
        </p:nvCxnSpPr>
        <p:spPr>
          <a:xfrm>
            <a:off x="7613779" y="4079804"/>
            <a:ext cx="0" cy="974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07F97BB-1D73-7703-5ED6-FE5EF96B17B4}"/>
              </a:ext>
            </a:extLst>
          </p:cNvPr>
          <p:cNvCxnSpPr>
            <a:cxnSpLocks/>
          </p:cNvCxnSpPr>
          <p:nvPr/>
        </p:nvCxnSpPr>
        <p:spPr>
          <a:xfrm>
            <a:off x="5702918" y="5523107"/>
            <a:ext cx="1016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E3A00D-6B8D-57C4-5FB8-BAA836E73586}"/>
                  </a:ext>
                </a:extLst>
              </p:cNvPr>
              <p:cNvSpPr txBox="1"/>
              <p:nvPr/>
            </p:nvSpPr>
            <p:spPr>
              <a:xfrm>
                <a:off x="778877" y="1989086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E3A00D-6B8D-57C4-5FB8-BAA836E73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7" y="1989086"/>
                <a:ext cx="2580578" cy="603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2297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63DE-7705-DC3A-8FE4-0FFA1640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062" y="-333954"/>
            <a:ext cx="10515600" cy="1325563"/>
          </a:xfrm>
        </p:spPr>
        <p:txBody>
          <a:bodyPr/>
          <a:lstStyle/>
          <a:p>
            <a:r>
              <a:rPr lang="da-DK" dirty="0" err="1"/>
              <a:t>Implement</a:t>
            </a:r>
            <a:r>
              <a:rPr lang="da-DK" dirty="0"/>
              <a:t> the model in </a:t>
            </a:r>
            <a:r>
              <a:rPr lang="da-DK" dirty="0" err="1"/>
              <a:t>python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13B58-DA41-0B52-05DB-29325F418499}"/>
                  </a:ext>
                </a:extLst>
              </p:cNvPr>
              <p:cNvSpPr txBox="1"/>
              <p:nvPr/>
            </p:nvSpPr>
            <p:spPr>
              <a:xfrm>
                <a:off x="1016114" y="1638249"/>
                <a:ext cx="1279581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13B58-DA41-0B52-05DB-29325F418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1638249"/>
                <a:ext cx="1279581" cy="281937"/>
              </a:xfrm>
              <a:prstGeom prst="rect">
                <a:avLst/>
              </a:prstGeom>
              <a:blipFill>
                <a:blip r:embed="rId2"/>
                <a:stretch>
                  <a:fillRect l="-4762" t="-2174" r="-952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DC3EB4-F896-2C15-5534-06ECB9CF2E25}"/>
                  </a:ext>
                </a:extLst>
              </p:cNvPr>
              <p:cNvSpPr txBox="1"/>
              <p:nvPr/>
            </p:nvSpPr>
            <p:spPr>
              <a:xfrm>
                <a:off x="1016114" y="2268415"/>
                <a:ext cx="1455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DC3EB4-F896-2C15-5534-06ECB9CF2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2268415"/>
                <a:ext cx="1455783" cy="276999"/>
              </a:xfrm>
              <a:prstGeom prst="rect">
                <a:avLst/>
              </a:prstGeom>
              <a:blipFill>
                <a:blip r:embed="rId3"/>
                <a:stretch>
                  <a:fillRect l="-3782" r="-840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D9C606-E336-B404-DD57-E3B9028B5CFC}"/>
                  </a:ext>
                </a:extLst>
              </p:cNvPr>
              <p:cNvSpPr txBox="1"/>
              <p:nvPr/>
            </p:nvSpPr>
            <p:spPr>
              <a:xfrm>
                <a:off x="1016114" y="782587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D9C606-E336-B404-DD57-E3B9028B5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782587"/>
                <a:ext cx="2580578" cy="603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1393EF5-04CF-4722-F596-FABF87661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611" y="1101244"/>
            <a:ext cx="2505425" cy="3620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A4C6B80-D304-F7A1-D617-4138435A4F2F}"/>
              </a:ext>
            </a:extLst>
          </p:cNvPr>
          <p:cNvSpPr txBox="1"/>
          <p:nvPr/>
        </p:nvSpPr>
        <p:spPr>
          <a:xfrm flipH="1">
            <a:off x="8676274" y="1717620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Define</a:t>
            </a:r>
            <a:r>
              <a:rPr lang="da-DK" sz="1200" dirty="0"/>
              <a:t> </a:t>
            </a:r>
            <a:r>
              <a:rPr lang="da-DK" sz="1200" dirty="0" err="1"/>
              <a:t>function</a:t>
            </a:r>
            <a:r>
              <a:rPr lang="da-DK" sz="1200" dirty="0"/>
              <a:t> + input arguments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C2367-1C35-47B5-703F-3E1FD097D3B3}"/>
              </a:ext>
            </a:extLst>
          </p:cNvPr>
          <p:cNvSpPr txBox="1"/>
          <p:nvPr/>
        </p:nvSpPr>
        <p:spPr>
          <a:xfrm flipH="1">
            <a:off x="8836362" y="3117651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Document </a:t>
            </a:r>
            <a:r>
              <a:rPr lang="da-DK" sz="1200" dirty="0" err="1"/>
              <a:t>your</a:t>
            </a:r>
            <a:r>
              <a:rPr lang="da-DK" sz="1200" dirty="0"/>
              <a:t> model </a:t>
            </a:r>
            <a:r>
              <a:rPr lang="da-DK" sz="1200" dirty="0" err="1"/>
              <a:t>using</a:t>
            </a:r>
            <a:r>
              <a:rPr lang="da-DK" sz="1200" dirty="0"/>
              <a:t> ”””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51A22-CCAF-B4B5-78C7-8EFB6C6372AB}"/>
              </a:ext>
            </a:extLst>
          </p:cNvPr>
          <p:cNvSpPr txBox="1"/>
          <p:nvPr/>
        </p:nvSpPr>
        <p:spPr>
          <a:xfrm flipH="1">
            <a:off x="8862294" y="5016026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Analytical</a:t>
            </a:r>
            <a:r>
              <a:rPr lang="da-DK" sz="1200" dirty="0"/>
              <a:t> solution of </a:t>
            </a:r>
            <a:r>
              <a:rPr lang="da-DK" sz="1200" dirty="0" err="1"/>
              <a:t>governing</a:t>
            </a:r>
            <a:r>
              <a:rPr lang="da-DK" sz="1200" dirty="0"/>
              <a:t> ODE + </a:t>
            </a:r>
            <a:r>
              <a:rPr lang="da-DK" sz="1200" dirty="0" err="1"/>
              <a:t>solve</a:t>
            </a:r>
            <a:r>
              <a:rPr lang="da-DK" sz="1200" dirty="0"/>
              <a:t> </a:t>
            </a:r>
            <a:r>
              <a:rPr lang="da-DK" sz="1200" dirty="0" err="1"/>
              <a:t>call</a:t>
            </a:r>
            <a:endParaRPr lang="da-DK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A05CD-42C9-7329-1694-3F1B2BA8D6B7}"/>
              </a:ext>
            </a:extLst>
          </p:cNvPr>
          <p:cNvSpPr txBox="1"/>
          <p:nvPr/>
        </p:nvSpPr>
        <p:spPr>
          <a:xfrm flipH="1">
            <a:off x="8862294" y="6019036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Return output variables as </a:t>
            </a:r>
            <a:r>
              <a:rPr lang="da-DK" sz="1200" dirty="0" err="1"/>
              <a:t>dictionary</a:t>
            </a:r>
            <a:endParaRPr lang="da-DK" sz="1200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D89A2939-1703-4C62-8C6B-270251DFBF2D}"/>
              </a:ext>
            </a:extLst>
          </p:cNvPr>
          <p:cNvSpPr/>
          <p:nvPr/>
        </p:nvSpPr>
        <p:spPr>
          <a:xfrm>
            <a:off x="8172803" y="2157045"/>
            <a:ext cx="637627" cy="22156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57444D59-2304-BDB4-2D8C-EBB56012E996}"/>
              </a:ext>
            </a:extLst>
          </p:cNvPr>
          <p:cNvSpPr/>
          <p:nvPr/>
        </p:nvSpPr>
        <p:spPr>
          <a:xfrm>
            <a:off x="8198735" y="4742041"/>
            <a:ext cx="637627" cy="8249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1451CC3-FAB3-F335-DB1B-6A7F4C51605F}"/>
              </a:ext>
            </a:extLst>
          </p:cNvPr>
          <p:cNvSpPr/>
          <p:nvPr/>
        </p:nvSpPr>
        <p:spPr>
          <a:xfrm>
            <a:off x="8198735" y="5765043"/>
            <a:ext cx="637627" cy="8249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F10CA6-7BEB-67F3-8A16-C003C61734A2}"/>
              </a:ext>
            </a:extLst>
          </p:cNvPr>
          <p:cNvSpPr txBox="1"/>
          <p:nvPr/>
        </p:nvSpPr>
        <p:spPr>
          <a:xfrm flipH="1">
            <a:off x="8676274" y="1213511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Import </a:t>
            </a:r>
            <a:r>
              <a:rPr lang="da-DK" sz="1200" dirty="0" err="1"/>
              <a:t>packages</a:t>
            </a:r>
            <a:r>
              <a:rPr lang="da-DK" sz="1200" dirty="0"/>
              <a:t> </a:t>
            </a:r>
            <a:r>
              <a:rPr lang="da-DK" sz="1200" dirty="0" err="1"/>
              <a:t>first</a:t>
            </a:r>
            <a:endParaRPr lang="da-DK" sz="12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7DFA13-BE7D-2D05-85B3-7291912423E5}"/>
              </a:ext>
            </a:extLst>
          </p:cNvPr>
          <p:cNvCxnSpPr/>
          <p:nvPr/>
        </p:nvCxnSpPr>
        <p:spPr>
          <a:xfrm flipH="1">
            <a:off x="7666892" y="1352010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735B5C-D982-11B5-5F44-74B86C068366}"/>
              </a:ext>
            </a:extLst>
          </p:cNvPr>
          <p:cNvCxnSpPr/>
          <p:nvPr/>
        </p:nvCxnSpPr>
        <p:spPr>
          <a:xfrm flipV="1">
            <a:off x="1444752" y="4242816"/>
            <a:ext cx="1027145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FD9E74-38E0-C32E-659F-EC0D21B8580F}"/>
              </a:ext>
            </a:extLst>
          </p:cNvPr>
          <p:cNvSpPr txBox="1"/>
          <p:nvPr/>
        </p:nvSpPr>
        <p:spPr>
          <a:xfrm>
            <a:off x="338328" y="5016026"/>
            <a:ext cx="1801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containing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DF0A0-8AFD-0455-D7CC-561A44047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8514" y="1823646"/>
            <a:ext cx="5001323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23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0C78FD-41BB-1329-1799-0BAB7F94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95" y="1044230"/>
            <a:ext cx="4058216" cy="215295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6457E638-E353-FA5B-A7E4-89093B081650}"/>
              </a:ext>
            </a:extLst>
          </p:cNvPr>
          <p:cNvSpPr/>
          <p:nvPr/>
        </p:nvSpPr>
        <p:spPr>
          <a:xfrm>
            <a:off x="5077910" y="1044230"/>
            <a:ext cx="637627" cy="14058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271DEB8-CEDA-1678-9616-C14559D4A30B}"/>
              </a:ext>
            </a:extLst>
          </p:cNvPr>
          <p:cNvSpPr/>
          <p:nvPr/>
        </p:nvSpPr>
        <p:spPr>
          <a:xfrm>
            <a:off x="5077910" y="2494233"/>
            <a:ext cx="637627" cy="7029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CA824-CA41-7AE2-55E1-205282484A46}"/>
              </a:ext>
            </a:extLst>
          </p:cNvPr>
          <p:cNvSpPr txBox="1"/>
          <p:nvPr/>
        </p:nvSpPr>
        <p:spPr>
          <a:xfrm>
            <a:off x="5715537" y="1562510"/>
            <a:ext cx="455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Call </a:t>
            </a:r>
            <a:r>
              <a:rPr lang="da-DK" dirty="0" err="1"/>
              <a:t>your</a:t>
            </a:r>
            <a:r>
              <a:rPr lang="da-DK" dirty="0"/>
              <a:t> model </a:t>
            </a:r>
            <a:r>
              <a:rPr lang="da-DK" dirty="0" err="1"/>
              <a:t>function</a:t>
            </a:r>
            <a:r>
              <a:rPr lang="da-DK" dirty="0"/>
              <a:t> with </a:t>
            </a:r>
            <a:r>
              <a:rPr lang="da-DK" dirty="0" err="1"/>
              <a:t>desired</a:t>
            </a:r>
            <a:r>
              <a:rPr lang="da-DK" dirty="0"/>
              <a:t> inputs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D53A9-8F59-E94D-D702-D414ACC89BC8}"/>
              </a:ext>
            </a:extLst>
          </p:cNvPr>
          <p:cNvSpPr txBox="1"/>
          <p:nvPr/>
        </p:nvSpPr>
        <p:spPr>
          <a:xfrm>
            <a:off x="5715537" y="2661040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Plot output</a:t>
            </a:r>
          </a:p>
        </p:txBody>
      </p:sp>
    </p:spTree>
    <p:extLst>
      <p:ext uri="{BB962C8B-B14F-4D97-AF65-F5344CB8AC3E}">
        <p14:creationId xmlns:p14="http://schemas.microsoft.com/office/powerpoint/2010/main" val="9977298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86A0-F7A1-774C-4C7A-9FA2461A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Using </a:t>
            </a:r>
            <a:r>
              <a:rPr lang="da-DK" dirty="0" err="1"/>
              <a:t>modules</a:t>
            </a:r>
            <a:r>
              <a:rPr lang="da-DK" dirty="0"/>
              <a:t> </a:t>
            </a:r>
            <a:r>
              <a:rPr lang="da-DK" dirty="0" err="1"/>
              <a:t>instead</a:t>
            </a:r>
            <a:r>
              <a:rPr lang="da-DK" dirty="0"/>
              <a:t> of single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D8D0D-E0ED-0593-2DCE-A937ECA3C4A0}"/>
              </a:ext>
            </a:extLst>
          </p:cNvPr>
          <p:cNvSpPr txBox="1"/>
          <p:nvPr/>
        </p:nvSpPr>
        <p:spPr>
          <a:xfrm>
            <a:off x="838200" y="1396723"/>
            <a:ext cx="754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Rather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a single script (as in the </a:t>
            </a:r>
            <a:r>
              <a:rPr lang="da-DK" dirty="0" err="1"/>
              <a:t>previous</a:t>
            </a:r>
            <a:r>
              <a:rPr lang="da-DK" dirty="0"/>
              <a:t> slides)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Save </a:t>
            </a:r>
            <a:r>
              <a:rPr lang="da-DK" dirty="0" err="1"/>
              <a:t>your</a:t>
            </a:r>
            <a:r>
              <a:rPr lang="da-DK" dirty="0"/>
              <a:t> model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separately</a:t>
            </a:r>
            <a:endParaRPr lang="da-DK" dirty="0"/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Load and </a:t>
            </a:r>
            <a:r>
              <a:rPr lang="da-DK" dirty="0" err="1"/>
              <a:t>call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modle</a:t>
            </a:r>
            <a:r>
              <a:rPr lang="da-DK" dirty="0"/>
              <a:t> from </a:t>
            </a:r>
            <a:r>
              <a:rPr lang="da-DK" dirty="0" err="1"/>
              <a:t>another</a:t>
            </a:r>
            <a:r>
              <a:rPr lang="da-DK" dirty="0"/>
              <a:t> script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0E4B8-09BA-8CB1-A307-D59B29DF637D}"/>
              </a:ext>
            </a:extLst>
          </p:cNvPr>
          <p:cNvSpPr/>
          <p:nvPr/>
        </p:nvSpPr>
        <p:spPr>
          <a:xfrm>
            <a:off x="838200" y="2412385"/>
            <a:ext cx="4425696" cy="8595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accent1"/>
                </a:solidFill>
              </a:rPr>
              <a:t>Keeps </a:t>
            </a:r>
            <a:r>
              <a:rPr lang="da-DK" dirty="0" err="1">
                <a:solidFill>
                  <a:schemeClr val="accent1"/>
                </a:solidFill>
              </a:rPr>
              <a:t>things</a:t>
            </a:r>
            <a:endParaRPr lang="da-DK" dirty="0">
              <a:solidFill>
                <a:schemeClr val="accent1"/>
              </a:solidFill>
            </a:endParaRPr>
          </a:p>
          <a:p>
            <a:pPr algn="ctr"/>
            <a:r>
              <a:rPr lang="da-DK" dirty="0">
                <a:solidFill>
                  <a:schemeClr val="accent1"/>
                </a:solidFill>
              </a:rPr>
              <a:t>clean, </a:t>
            </a:r>
            <a:r>
              <a:rPr lang="da-DK" dirty="0" err="1">
                <a:solidFill>
                  <a:schemeClr val="accent1"/>
                </a:solidFill>
              </a:rPr>
              <a:t>separated</a:t>
            </a:r>
            <a:r>
              <a:rPr lang="da-DK" dirty="0">
                <a:solidFill>
                  <a:schemeClr val="accent1"/>
                </a:solidFill>
              </a:rPr>
              <a:t>, </a:t>
            </a:r>
            <a:r>
              <a:rPr lang="da-DK" dirty="0" err="1">
                <a:solidFill>
                  <a:schemeClr val="accent1"/>
                </a:solidFill>
              </a:rPr>
              <a:t>easier</a:t>
            </a:r>
            <a:r>
              <a:rPr lang="da-DK" dirty="0">
                <a:solidFill>
                  <a:schemeClr val="accent1"/>
                </a:solidFill>
              </a:rPr>
              <a:t> to </a:t>
            </a:r>
            <a:r>
              <a:rPr lang="da-DK" dirty="0" err="1">
                <a:solidFill>
                  <a:schemeClr val="accent1"/>
                </a:solidFill>
              </a:rPr>
              <a:t>read</a:t>
            </a:r>
            <a:endParaRPr lang="da-DK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92338-7B0B-14E7-5600-D8F6C35B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290" y="2842153"/>
            <a:ext cx="2781276" cy="3657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0EE17-0D91-7CA6-91E7-3456564F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22" y="3481061"/>
            <a:ext cx="3097343" cy="29433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2B3513-C7E8-0E5E-2195-7A58947EA5B0}"/>
              </a:ext>
            </a:extLst>
          </p:cNvPr>
          <p:cNvCxnSpPr>
            <a:cxnSpLocks/>
          </p:cNvCxnSpPr>
          <p:nvPr/>
        </p:nvCxnSpPr>
        <p:spPr>
          <a:xfrm flipV="1">
            <a:off x="1334379" y="4887917"/>
            <a:ext cx="884946" cy="1515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5D65DA-4B95-BFAB-FA24-9C4463415E96}"/>
              </a:ext>
            </a:extLst>
          </p:cNvPr>
          <p:cNvSpPr txBox="1"/>
          <p:nvPr/>
        </p:nvSpPr>
        <p:spPr>
          <a:xfrm>
            <a:off x="193167" y="5005756"/>
            <a:ext cx="1930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Model </a:t>
            </a:r>
            <a:r>
              <a:rPr lang="da-DK" sz="1600" dirty="0" err="1"/>
              <a:t>function</a:t>
            </a:r>
            <a:r>
              <a:rPr lang="da-DK" sz="1600" dirty="0"/>
              <a:t> </a:t>
            </a:r>
            <a:r>
              <a:rPr lang="da-DK" sz="1600" dirty="0" err="1"/>
              <a:t>name</a:t>
            </a:r>
            <a:r>
              <a:rPr lang="da-DK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CD28C-F351-65D7-AC33-1AA5DFE8FCB2}"/>
              </a:ext>
            </a:extLst>
          </p:cNvPr>
          <p:cNvSpPr txBox="1"/>
          <p:nvPr/>
        </p:nvSpPr>
        <p:spPr>
          <a:xfrm>
            <a:off x="148091" y="4004127"/>
            <a:ext cx="193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Model </a:t>
            </a:r>
            <a:r>
              <a:rPr lang="da-DK" sz="1600" dirty="0" err="1"/>
              <a:t>filename</a:t>
            </a:r>
            <a:endParaRPr lang="da-DK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EDAAB6-DB3B-F07A-736C-5881A5064F2A}"/>
              </a:ext>
            </a:extLst>
          </p:cNvPr>
          <p:cNvCxnSpPr>
            <a:cxnSpLocks/>
          </p:cNvCxnSpPr>
          <p:nvPr/>
        </p:nvCxnSpPr>
        <p:spPr>
          <a:xfrm flipV="1">
            <a:off x="1209674" y="3658549"/>
            <a:ext cx="1114426" cy="2997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32ECAD-410E-113C-4E4F-5185FCCE479F}"/>
              </a:ext>
            </a:extLst>
          </p:cNvPr>
          <p:cNvSpPr txBox="1"/>
          <p:nvPr/>
        </p:nvSpPr>
        <p:spPr>
          <a:xfrm>
            <a:off x="5713501" y="3481061"/>
            <a:ext cx="193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Filename</a:t>
            </a:r>
            <a:endParaRPr lang="da-DK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6E77E7-49B6-B7D8-AF22-49659B6720CA}"/>
              </a:ext>
            </a:extLst>
          </p:cNvPr>
          <p:cNvCxnSpPr>
            <a:cxnSpLocks/>
          </p:cNvCxnSpPr>
          <p:nvPr/>
        </p:nvCxnSpPr>
        <p:spPr>
          <a:xfrm flipV="1">
            <a:off x="6785380" y="3076478"/>
            <a:ext cx="1596620" cy="6002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3E531E0-EBBA-ACEB-FFEB-DE66ECB78BE1}"/>
              </a:ext>
            </a:extLst>
          </p:cNvPr>
          <p:cNvSpPr txBox="1"/>
          <p:nvPr/>
        </p:nvSpPr>
        <p:spPr>
          <a:xfrm>
            <a:off x="5713501" y="4241586"/>
            <a:ext cx="1930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Loading</a:t>
            </a:r>
            <a:r>
              <a:rPr lang="da-DK" sz="1600" dirty="0"/>
              <a:t> model </a:t>
            </a:r>
            <a:r>
              <a:rPr lang="da-DK" sz="1600" dirty="0" err="1"/>
              <a:t>filename</a:t>
            </a:r>
            <a:r>
              <a:rPr lang="da-DK" sz="1600" dirty="0"/>
              <a:t> as ”cm”</a:t>
            </a:r>
          </a:p>
          <a:p>
            <a:endParaRPr lang="da-DK" sz="1600" dirty="0"/>
          </a:p>
          <a:p>
            <a:r>
              <a:rPr lang="da-DK" sz="1600" dirty="0"/>
              <a:t>(like </a:t>
            </a:r>
            <a:r>
              <a:rPr lang="da-DK" sz="1600" dirty="0" err="1"/>
              <a:t>when</a:t>
            </a:r>
            <a:r>
              <a:rPr lang="da-DK" sz="1600" dirty="0"/>
              <a:t> </a:t>
            </a:r>
            <a:r>
              <a:rPr lang="da-DK" sz="1600" dirty="0" err="1"/>
              <a:t>you</a:t>
            </a:r>
            <a:r>
              <a:rPr lang="da-DK" sz="1600" dirty="0"/>
              <a:t> import </a:t>
            </a:r>
            <a:r>
              <a:rPr lang="da-DK" sz="1600" dirty="0" err="1"/>
              <a:t>packages</a:t>
            </a:r>
            <a:r>
              <a:rPr lang="da-DK" sz="1600" dirty="0"/>
              <a:t> like </a:t>
            </a:r>
            <a:r>
              <a:rPr lang="da-DK" sz="1600" dirty="0" err="1"/>
              <a:t>numpy</a:t>
            </a:r>
            <a:r>
              <a:rPr lang="da-DK" sz="1600" dirty="0"/>
              <a:t> as ”</a:t>
            </a:r>
            <a:r>
              <a:rPr lang="da-DK" sz="1600" dirty="0" err="1"/>
              <a:t>np</a:t>
            </a:r>
            <a:r>
              <a:rPr lang="da-DK" sz="1600" dirty="0"/>
              <a:t>”)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13FE0B-836C-348C-94BE-2ACBA9655897}"/>
              </a:ext>
            </a:extLst>
          </p:cNvPr>
          <p:cNvCxnSpPr>
            <a:cxnSpLocks/>
          </p:cNvCxnSpPr>
          <p:nvPr/>
        </p:nvCxnSpPr>
        <p:spPr>
          <a:xfrm flipV="1">
            <a:off x="7347355" y="4342681"/>
            <a:ext cx="660935" cy="65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934F33-3185-5E83-182D-1C72BDC25531}"/>
              </a:ext>
            </a:extLst>
          </p:cNvPr>
          <p:cNvSpPr txBox="1"/>
          <p:nvPr/>
        </p:nvSpPr>
        <p:spPr>
          <a:xfrm>
            <a:off x="11153447" y="3676682"/>
            <a:ext cx="77152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Call model </a:t>
            </a:r>
            <a:r>
              <a:rPr lang="da-DK" sz="1100" dirty="0" err="1"/>
              <a:t>function</a:t>
            </a:r>
            <a:r>
              <a:rPr lang="da-DK" sz="1100" dirty="0"/>
              <a:t> </a:t>
            </a:r>
            <a:r>
              <a:rPr lang="da-DK" sz="1100" dirty="0" err="1"/>
              <a:t>name</a:t>
            </a:r>
            <a:r>
              <a:rPr lang="da-DK" sz="1100" dirty="0"/>
              <a:t> as </a:t>
            </a:r>
            <a:r>
              <a:rPr lang="da-DK" sz="1100" dirty="0" err="1"/>
              <a:t>function</a:t>
            </a:r>
            <a:r>
              <a:rPr lang="da-DK" sz="1100" dirty="0"/>
              <a:t> </a:t>
            </a:r>
            <a:r>
              <a:rPr lang="da-DK" sz="1100" dirty="0" err="1"/>
              <a:t>within</a:t>
            </a:r>
            <a:r>
              <a:rPr lang="da-DK" sz="1100" dirty="0"/>
              <a:t> cm </a:t>
            </a:r>
            <a:r>
              <a:rPr lang="da-DK" sz="1100" dirty="0" err="1"/>
              <a:t>module</a:t>
            </a:r>
            <a:endParaRPr lang="da-DK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7A705E-A0E4-9637-CB86-BDE3424DBE95}"/>
              </a:ext>
            </a:extLst>
          </p:cNvPr>
          <p:cNvCxnSpPr/>
          <p:nvPr/>
        </p:nvCxnSpPr>
        <p:spPr>
          <a:xfrm flipH="1">
            <a:off x="8848725" y="3958292"/>
            <a:ext cx="2304722" cy="632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9668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8E98-A850-24A4-036F-0C35F302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 </a:t>
            </a:r>
            <a:r>
              <a:rPr lang="da-DK" dirty="0" err="1"/>
              <a:t>numerical</a:t>
            </a:r>
            <a:r>
              <a:rPr lang="da-DK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55E7D-A25E-E65F-E21B-8F6FB7D2B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/>
              <a:t>Same procedure, but </a:t>
            </a:r>
            <a:r>
              <a:rPr lang="da-DK" sz="2000" dirty="0" err="1"/>
              <a:t>expand</a:t>
            </a:r>
            <a:r>
              <a:rPr lang="da-DK" sz="2000" dirty="0"/>
              <a:t> model </a:t>
            </a:r>
            <a:r>
              <a:rPr lang="da-DK" sz="2000" dirty="0" err="1"/>
              <a:t>function</a:t>
            </a:r>
            <a:r>
              <a:rPr lang="da-DK" sz="2000" dirty="0"/>
              <a:t> </a:t>
            </a:r>
          </a:p>
          <a:p>
            <a:pPr marL="0" indent="0">
              <a:buNone/>
            </a:pPr>
            <a:r>
              <a:rPr lang="da-DK" sz="2000" dirty="0"/>
              <a:t>with rates() and </a:t>
            </a:r>
            <a:r>
              <a:rPr lang="da-DK" sz="2000" dirty="0" err="1"/>
              <a:t>solve_ivp</a:t>
            </a:r>
            <a:r>
              <a:rPr lang="da-DK" sz="2000" dirty="0"/>
              <a:t>() </a:t>
            </a:r>
            <a:r>
              <a:rPr lang="da-DK" sz="2000" dirty="0" err="1"/>
              <a:t>call</a:t>
            </a:r>
            <a:endParaRPr lang="da-D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3EA95-5DFD-9150-9519-3DFC9932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163" y="1027906"/>
            <a:ext cx="5182323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14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86C9AF7-FC43-4772-BF6D-26FE95C56D62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Notes from last time on model formulation</vt:lpstr>
      <vt:lpstr>Solving and implementing models</vt:lpstr>
      <vt:lpstr>Methods for solving models numerically</vt:lpstr>
      <vt:lpstr>Analytically</vt:lpstr>
      <vt:lpstr>Implement the model in python</vt:lpstr>
      <vt:lpstr>PowerPoint Presentation</vt:lpstr>
      <vt:lpstr>Using modules instead of single script</vt:lpstr>
      <vt:lpstr>A numerical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2025-12-12T15:04:36Z</dcterms:created>
  <dcterms:modified xsi:type="dcterms:W3CDTF">2026-08-27T14:05:52Z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